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notesMasterIdLst>
    <p:notesMasterId r:id="rId18"/>
  </p:notesMasterIdLst>
  <p:sldIdLst>
    <p:sldId id="257" r:id="rId2"/>
    <p:sldId id="277" r:id="rId3"/>
    <p:sldId id="258" r:id="rId4"/>
    <p:sldId id="259" r:id="rId5"/>
    <p:sldId id="260" r:id="rId6"/>
    <p:sldId id="261" r:id="rId7"/>
    <p:sldId id="262" r:id="rId8"/>
    <p:sldId id="275" r:id="rId9"/>
    <p:sldId id="273" r:id="rId10"/>
    <p:sldId id="274" r:id="rId11"/>
    <p:sldId id="276" r:id="rId12"/>
    <p:sldId id="264" r:id="rId13"/>
    <p:sldId id="278" r:id="rId14"/>
    <p:sldId id="280" r:id="rId15"/>
    <p:sldId id="265" r:id="rId16"/>
    <p:sldId id="279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1474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D7FC98-959D-4F9A-85B3-8E6D5F89E331}" type="datetimeFigureOut">
              <a:rPr lang="en-US" smtClean="0"/>
              <a:pPr/>
              <a:t>12/1/2024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102B27-B519-472A-BEF8-95E1659D5C0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1696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FF690-5B44-41DE-837B-E49615ED5241}" type="datetimeFigureOut">
              <a:rPr lang="ar-SA" smtClean="0"/>
              <a:pPr/>
              <a:t>30/05/1446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7476E-109D-4892-B066-42DEBCF5D988}" type="slidenum">
              <a:rPr lang="ar-SA" smtClean="0"/>
              <a:pPr/>
              <a:t>‹#›</a:t>
            </a:fld>
            <a:endParaRPr lang="ar-SA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93334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FF690-5B44-41DE-837B-E49615ED5241}" type="datetimeFigureOut">
              <a:rPr lang="ar-SA" smtClean="0"/>
              <a:pPr/>
              <a:t>30/05/1446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7476E-109D-4892-B066-42DEBCF5D988}" type="slidenum">
              <a:rPr lang="ar-SA" smtClean="0"/>
              <a:pPr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850483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FF690-5B44-41DE-837B-E49615ED5241}" type="datetimeFigureOut">
              <a:rPr lang="ar-SA" smtClean="0"/>
              <a:pPr/>
              <a:t>30/05/1446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7476E-109D-4892-B066-42DEBCF5D988}" type="slidenum">
              <a:rPr lang="ar-SA" smtClean="0"/>
              <a:pPr/>
              <a:t>‹#›</a:t>
            </a:fld>
            <a:endParaRPr lang="ar-SA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1589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FF690-5B44-41DE-837B-E49615ED5241}" type="datetimeFigureOut">
              <a:rPr lang="ar-SA" smtClean="0"/>
              <a:pPr/>
              <a:t>30/05/1446</a:t>
            </a:fld>
            <a:endParaRPr lang="ar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7476E-109D-4892-B066-42DEBCF5D988}" type="slidenum">
              <a:rPr lang="ar-SA" smtClean="0"/>
              <a:pPr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3837312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FF690-5B44-41DE-837B-E49615ED5241}" type="datetimeFigureOut">
              <a:rPr lang="ar-SA" smtClean="0"/>
              <a:pPr/>
              <a:t>30/05/1446</a:t>
            </a:fld>
            <a:endParaRPr lang="ar-S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7476E-109D-4892-B066-42DEBCF5D988}" type="slidenum">
              <a:rPr lang="ar-SA" smtClean="0"/>
              <a:pPr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4365314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FF690-5B44-41DE-837B-E49615ED5241}" type="datetimeFigureOut">
              <a:rPr lang="ar-SA" smtClean="0"/>
              <a:pPr/>
              <a:t>30/05/1446</a:t>
            </a:fld>
            <a:endParaRPr lang="ar-S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7476E-109D-4892-B066-42DEBCF5D988}" type="slidenum">
              <a:rPr lang="ar-SA" smtClean="0"/>
              <a:pPr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5153823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FF690-5B44-41DE-837B-E49615ED5241}" type="datetimeFigureOut">
              <a:rPr lang="ar-SA" smtClean="0"/>
              <a:pPr/>
              <a:t>30/05/1446</a:t>
            </a:fld>
            <a:endParaRPr lang="ar-S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ar-S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7476E-109D-4892-B066-42DEBCF5D988}" type="slidenum">
              <a:rPr lang="ar-SA" smtClean="0"/>
              <a:pPr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8950457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D84FF690-5B44-41DE-837B-E49615ED5241}" type="datetimeFigureOut">
              <a:rPr lang="ar-SA" smtClean="0"/>
              <a:pPr/>
              <a:t>30/05/1446</a:t>
            </a:fld>
            <a:endParaRPr lang="ar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ar-S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1C7476E-109D-4892-B066-42DEBCF5D988}" type="slidenum">
              <a:rPr lang="ar-SA" smtClean="0"/>
              <a:pPr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8160037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FF690-5B44-41DE-837B-E49615ED5241}" type="datetimeFigureOut">
              <a:rPr lang="ar-SA" smtClean="0"/>
              <a:pPr/>
              <a:t>30/05/1446</a:t>
            </a:fld>
            <a:endParaRPr lang="ar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7476E-109D-4892-B066-42DEBCF5D988}" type="slidenum">
              <a:rPr lang="ar-SA" smtClean="0"/>
              <a:pPr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4021731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FF690-5B44-41DE-837B-E49615ED5241}" type="datetimeFigureOut">
              <a:rPr lang="ar-SA" smtClean="0"/>
              <a:pPr/>
              <a:t>30/05/1446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7476E-109D-4892-B066-42DEBCF5D988}" type="slidenum">
              <a:rPr lang="ar-SA" smtClean="0"/>
              <a:pPr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1218625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FF690-5B44-41DE-837B-E49615ED5241}" type="datetimeFigureOut">
              <a:rPr lang="ar-SA" smtClean="0"/>
              <a:pPr/>
              <a:t>30/05/1446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7476E-109D-4892-B066-42DEBCF5D988}" type="slidenum">
              <a:rPr lang="ar-SA" smtClean="0"/>
              <a:pPr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5842381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D84FF690-5B44-41DE-837B-E49615ED5241}" type="datetimeFigureOut">
              <a:rPr lang="ar-SA" smtClean="0"/>
              <a:pPr/>
              <a:t>30/05/1446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1C7476E-109D-4892-B066-42DEBCF5D988}" type="slidenum">
              <a:rPr lang="ar-SA" smtClean="0"/>
              <a:pPr/>
              <a:t>‹#›</a:t>
            </a:fld>
            <a:endParaRPr lang="ar-SA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14621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331640" y="2420888"/>
            <a:ext cx="6491180" cy="110799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n-US" sz="6600" b="1" cap="none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Key And Mouse</a:t>
            </a:r>
            <a:endParaRPr lang="ar-SA" sz="6600" b="1" cap="none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205441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63040" y="2119256"/>
            <a:ext cx="6196405" cy="3976744"/>
          </a:xfrm>
        </p:spPr>
        <p:txBody>
          <a:bodyPr>
            <a:normAutofit fontScale="55000" lnSpcReduction="20000"/>
          </a:bodyPr>
          <a:lstStyle/>
          <a:p>
            <a:pPr algn="l" rtl="0"/>
            <a:r>
              <a:rPr lang="en-US" dirty="0" smtClean="0"/>
              <a:t>Key Interface</a:t>
            </a:r>
          </a:p>
          <a:p>
            <a:pPr algn="l" rtl="0"/>
            <a:r>
              <a:rPr lang="en-US" sz="2000" dirty="0" smtClean="0"/>
              <a:t>     </a:t>
            </a:r>
            <a:r>
              <a:rPr lang="en-US" sz="2000" dirty="0" err="1" smtClean="0"/>
              <a:t>keyPressed</a:t>
            </a:r>
            <a:endParaRPr lang="en-US" sz="2000" dirty="0" smtClean="0"/>
          </a:p>
          <a:p>
            <a:pPr algn="l" rtl="0"/>
            <a:r>
              <a:rPr lang="en-US" sz="2000" dirty="0"/>
              <a:t> </a:t>
            </a:r>
            <a:r>
              <a:rPr lang="en-US" sz="2000" dirty="0" smtClean="0"/>
              <a:t>    </a:t>
            </a:r>
            <a:r>
              <a:rPr lang="en-US" sz="2000" dirty="0" err="1" smtClean="0"/>
              <a:t>keyTyped</a:t>
            </a:r>
            <a:endParaRPr lang="en-US" sz="2000" dirty="0" smtClean="0"/>
          </a:p>
          <a:p>
            <a:pPr algn="l" rtl="0"/>
            <a:r>
              <a:rPr lang="en-US" sz="2000" dirty="0" smtClean="0"/>
              <a:t>     </a:t>
            </a:r>
            <a:r>
              <a:rPr lang="en-US" sz="2000" dirty="0" err="1" smtClean="0"/>
              <a:t>keyReleaesed</a:t>
            </a:r>
            <a:endParaRPr lang="en-US" sz="2000" dirty="0" smtClean="0"/>
          </a:p>
          <a:p>
            <a:pPr algn="l" rtl="0"/>
            <a:r>
              <a:rPr lang="en-US" sz="2000" dirty="0"/>
              <a:t> </a:t>
            </a:r>
            <a:r>
              <a:rPr lang="en-US" sz="2000" dirty="0" smtClean="0"/>
              <a:t>    </a:t>
            </a:r>
            <a:r>
              <a:rPr lang="en-US" sz="2000" dirty="0" err="1" smtClean="0"/>
              <a:t>KeyEvent</a:t>
            </a:r>
            <a:endParaRPr lang="en-US" sz="2000" dirty="0" smtClean="0"/>
          </a:p>
          <a:p>
            <a:pPr algn="l" rtl="0"/>
            <a:r>
              <a:rPr lang="en-US" sz="2000" dirty="0"/>
              <a:t> </a:t>
            </a:r>
            <a:r>
              <a:rPr lang="en-US" sz="2000" dirty="0" smtClean="0"/>
              <a:t>    Animator Class</a:t>
            </a:r>
          </a:p>
          <a:p>
            <a:pPr algn="l" rtl="0"/>
            <a:r>
              <a:rPr lang="en-US" sz="2000" dirty="0"/>
              <a:t> </a:t>
            </a:r>
            <a:r>
              <a:rPr lang="en-US" sz="2000" dirty="0" smtClean="0"/>
              <a:t>    Example</a:t>
            </a:r>
          </a:p>
          <a:p>
            <a:pPr algn="l" rtl="0"/>
            <a:r>
              <a:rPr lang="en-US" dirty="0"/>
              <a:t>Mouse Interface</a:t>
            </a:r>
          </a:p>
          <a:p>
            <a:pPr algn="l" rtl="0"/>
            <a:r>
              <a:rPr lang="en-US" sz="2000" dirty="0"/>
              <a:t> </a:t>
            </a:r>
            <a:r>
              <a:rPr lang="en-US" sz="2000" dirty="0" smtClean="0"/>
              <a:t>    </a:t>
            </a:r>
            <a:r>
              <a:rPr lang="en-US" sz="2000" dirty="0" err="1" smtClean="0"/>
              <a:t>MouseEntered</a:t>
            </a:r>
            <a:endParaRPr lang="en-US" sz="2000" dirty="0" smtClean="0"/>
          </a:p>
          <a:p>
            <a:pPr algn="l" rtl="0"/>
            <a:r>
              <a:rPr lang="en-US" sz="2000" dirty="0"/>
              <a:t> </a:t>
            </a:r>
            <a:r>
              <a:rPr lang="en-US" sz="2000" dirty="0" smtClean="0"/>
              <a:t>    </a:t>
            </a:r>
            <a:r>
              <a:rPr lang="en-US" sz="2000" dirty="0" err="1" smtClean="0"/>
              <a:t>MouseExited</a:t>
            </a:r>
            <a:endParaRPr lang="en-US" sz="2000" dirty="0" smtClean="0"/>
          </a:p>
          <a:p>
            <a:pPr algn="l" rtl="0"/>
            <a:r>
              <a:rPr lang="en-US" sz="2000" dirty="0"/>
              <a:t> </a:t>
            </a:r>
            <a:r>
              <a:rPr lang="en-US" sz="2000" dirty="0" smtClean="0"/>
              <a:t>    </a:t>
            </a:r>
            <a:r>
              <a:rPr lang="en-US" sz="2000" dirty="0" err="1" smtClean="0"/>
              <a:t>MouseEvent</a:t>
            </a:r>
            <a:endParaRPr lang="en-US" sz="2000" dirty="0" smtClean="0"/>
          </a:p>
          <a:p>
            <a:pPr algn="l" rtl="0"/>
            <a:r>
              <a:rPr lang="en-US" sz="2000" dirty="0" smtClean="0"/>
              <a:t>     Example</a:t>
            </a:r>
          </a:p>
          <a:p>
            <a:pPr algn="l" rtl="0"/>
            <a:r>
              <a:rPr lang="en-US" sz="2000" dirty="0"/>
              <a:t> </a:t>
            </a:r>
            <a:r>
              <a:rPr lang="en-US" sz="2000" dirty="0" smtClean="0"/>
              <a:t>    Class Activity     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5591657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095023" y="1034104"/>
            <a:ext cx="6965245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r>
              <a:rPr lang="en-US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Key Interface</a:t>
            </a:r>
            <a:endParaRPr lang="ar-SA" b="1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l" rtl="0"/>
            <a:r>
              <a:rPr lang="en-US" sz="2000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KeyListener</a:t>
            </a:r>
            <a:r>
              <a:rPr lang="en-US" sz="20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is an interface use to interaction with the Keyboard.</a:t>
            </a:r>
          </a:p>
          <a:p>
            <a:pPr algn="l" rtl="0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All user define class can be implemented more than one interface separated by coma ( , ).</a:t>
            </a:r>
          </a:p>
          <a:p>
            <a:pPr algn="l" rtl="0"/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KeyListener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interface has three Abstract Method (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keyPressed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( ),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keyReleased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() and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keyTyped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().</a:t>
            </a:r>
          </a:p>
          <a:p>
            <a:pPr algn="l" rtl="0"/>
            <a:r>
              <a:rPr lang="en-US" sz="2000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Public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void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keyPressed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( </a:t>
            </a:r>
            <a:r>
              <a:rPr lang="en-US" sz="2000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KeyEvent</a:t>
            </a:r>
            <a:r>
              <a:rPr lang="en-US" sz="20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e){}</a:t>
            </a:r>
          </a:p>
          <a:p>
            <a:pPr algn="l" rtl="0"/>
            <a:r>
              <a:rPr lang="en-US" sz="2000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Public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void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keyReleased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( </a:t>
            </a:r>
            <a:r>
              <a:rPr lang="en-US" sz="2000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KeyEvent</a:t>
            </a:r>
            <a:r>
              <a:rPr lang="en-US" sz="20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e){}</a:t>
            </a:r>
          </a:p>
          <a:p>
            <a:pPr algn="l" rtl="0"/>
            <a:r>
              <a:rPr lang="en-US" sz="2000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Public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void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keyTyped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( </a:t>
            </a:r>
            <a:r>
              <a:rPr lang="en-US" sz="2000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KeyEvent</a:t>
            </a:r>
            <a:r>
              <a:rPr lang="en-US" sz="20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e){}</a:t>
            </a:r>
          </a:p>
        </p:txBody>
      </p:sp>
    </p:spTree>
    <p:extLst>
      <p:ext uri="{BB962C8B-B14F-4D97-AF65-F5344CB8AC3E}">
        <p14:creationId xmlns:p14="http://schemas.microsoft.com/office/powerpoint/2010/main" val="85463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Key Pressed</a:t>
            </a:r>
            <a:endParaRPr lang="ar-S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 rtl="0"/>
            <a:r>
              <a:rPr lang="en-US" sz="2000" b="1" dirty="0" err="1" smtClean="0"/>
              <a:t>KeyPressed</a:t>
            </a:r>
            <a:r>
              <a:rPr lang="en-US" sz="2000" b="1" dirty="0" smtClean="0"/>
              <a:t>() </a:t>
            </a:r>
            <a:r>
              <a:rPr lang="en-US" sz="2000" dirty="0" smtClean="0"/>
              <a:t>method will called when we pressed any key on the keyboard.</a:t>
            </a:r>
          </a:p>
          <a:p>
            <a:pPr algn="l" rtl="0"/>
            <a:r>
              <a:rPr lang="en-US" sz="2000" b="1" dirty="0" err="1" smtClean="0"/>
              <a:t>kyePressed</a:t>
            </a:r>
            <a:r>
              <a:rPr lang="en-US" sz="2000" b="1" dirty="0" smtClean="0"/>
              <a:t>() </a:t>
            </a:r>
            <a:r>
              <a:rPr lang="en-US" sz="2000" dirty="0" smtClean="0"/>
              <a:t>method works with modifier keys</a:t>
            </a:r>
          </a:p>
          <a:p>
            <a:pPr algn="l" rtl="0"/>
            <a:endParaRPr lang="en-US" sz="2000" dirty="0"/>
          </a:p>
          <a:p>
            <a:pPr algn="l" rtl="0"/>
            <a:endParaRPr lang="en-US" sz="2000" dirty="0" smtClean="0"/>
          </a:p>
          <a:p>
            <a:pPr algn="l" rtl="0"/>
            <a:endParaRPr lang="en-US" sz="2000" dirty="0"/>
          </a:p>
          <a:p>
            <a:pPr algn="l" rtl="0"/>
            <a:endParaRPr lang="en-US" sz="2000" dirty="0" smtClean="0"/>
          </a:p>
          <a:p>
            <a:pPr algn="l" rtl="0"/>
            <a:endParaRPr lang="en-US" sz="2000" dirty="0"/>
          </a:p>
          <a:p>
            <a:pPr algn="l" rtl="0"/>
            <a:r>
              <a:rPr lang="en-US" sz="2000" b="1" dirty="0" err="1" smtClean="0"/>
              <a:t>KeyPressed</a:t>
            </a:r>
            <a:r>
              <a:rPr lang="en-US" sz="2000" b="1" dirty="0" smtClean="0"/>
              <a:t>() </a:t>
            </a:r>
            <a:r>
              <a:rPr lang="en-US" sz="2000" dirty="0" smtClean="0"/>
              <a:t>method also works with Capital letters</a:t>
            </a:r>
          </a:p>
          <a:p>
            <a:pPr marL="0" indent="0" algn="l" rtl="0">
              <a:buNone/>
            </a:pPr>
            <a:endParaRPr lang="ar-SA" sz="20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5075" y="3276600"/>
            <a:ext cx="4133850" cy="151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759097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Key Typed</a:t>
            </a:r>
            <a:endParaRPr lang="ar-S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 rtl="0"/>
            <a:r>
              <a:rPr lang="en-US" sz="2200" b="1" dirty="0" err="1" smtClean="0"/>
              <a:t>KeyTyped</a:t>
            </a:r>
            <a:r>
              <a:rPr lang="en-US" sz="2200" b="1" dirty="0" smtClean="0"/>
              <a:t>() </a:t>
            </a:r>
            <a:r>
              <a:rPr lang="en-US" sz="2200" dirty="0" smtClean="0"/>
              <a:t>method will call when we type any key on the method.</a:t>
            </a:r>
          </a:p>
          <a:p>
            <a:pPr algn="l" rtl="0"/>
            <a:r>
              <a:rPr lang="en-US" sz="2200" dirty="0" smtClean="0"/>
              <a:t>the modifier keys and Capital keys  not works here.</a:t>
            </a:r>
            <a:endParaRPr lang="ar-SA" sz="2200" b="1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3657600"/>
            <a:ext cx="4029074" cy="217994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35660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Key Released</a:t>
            </a:r>
            <a:endParaRPr lang="ar-S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 rtl="0"/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KeyReleased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() method will be called when we release a key on the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keyboared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000" b="1" dirty="0" smtClean="0">
              <a:latin typeface="Times New Roman" pitchFamily="18" charset="0"/>
              <a:cs typeface="Times New Roman" pitchFamily="18" charset="0"/>
            </a:endParaRPr>
          </a:p>
          <a:p>
            <a:pPr algn="l" rtl="0"/>
            <a:endParaRPr lang="en-US" sz="2000" b="1" dirty="0" smtClean="0">
              <a:latin typeface="Times New Roman" pitchFamily="18" charset="0"/>
              <a:cs typeface="Times New Roman" pitchFamily="18" charset="0"/>
            </a:endParaRPr>
          </a:p>
          <a:p>
            <a:pPr algn="l" rtl="0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For example: </a:t>
            </a:r>
            <a:endParaRPr lang="ar-SA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048000" y="3733800"/>
            <a:ext cx="11430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3048000" y="4495800"/>
            <a:ext cx="1143000" cy="4572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/>
          <p:cNvCxnSpPr>
            <a:stCxn id="4" idx="3"/>
          </p:cNvCxnSpPr>
          <p:nvPr/>
        </p:nvCxnSpPr>
        <p:spPr>
          <a:xfrm>
            <a:off x="4191000" y="3962400"/>
            <a:ext cx="8382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>
            <a:off x="4191000" y="4692869"/>
            <a:ext cx="8382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055476" y="3777734"/>
            <a:ext cx="114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On press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5105401" y="4495800"/>
            <a:ext cx="13715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On Release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7093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9585" y="762000"/>
            <a:ext cx="6965245" cy="1202485"/>
          </a:xfrm>
        </p:spPr>
        <p:txBody>
          <a:bodyPr/>
          <a:lstStyle/>
          <a:p>
            <a:r>
              <a:rPr lang="en-US" b="1" spc="50" dirty="0" err="1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KeyEvent</a:t>
            </a:r>
            <a:r>
              <a:rPr lang="en-US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 </a:t>
            </a:r>
            <a:endParaRPr lang="ar-S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l" rtl="0"/>
            <a:r>
              <a:rPr lang="en-US" dirty="0"/>
              <a:t>An event which indicates that a keystroke occurred in a component</a:t>
            </a:r>
            <a:r>
              <a:rPr lang="en-US" dirty="0" smtClean="0"/>
              <a:t>.</a:t>
            </a:r>
          </a:p>
          <a:p>
            <a:pPr algn="l" rtl="0"/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getKeyChar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() and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getKeyCode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()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are the most popular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methodes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inside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KeyEvent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class</a:t>
            </a:r>
          </a:p>
          <a:p>
            <a:pPr algn="l" rtl="0"/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getKeyChar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()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return the pressed letter</a:t>
            </a:r>
          </a:p>
          <a:p>
            <a:pPr algn="l" rtl="0"/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getKeyCode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()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return the (ASCII)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code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of the pressed letter</a:t>
            </a:r>
          </a:p>
          <a:p>
            <a:pPr algn="l" rtl="0"/>
            <a:endParaRPr lang="en-US" b="1" dirty="0">
              <a:latin typeface="Times New Roman" pitchFamily="18" charset="0"/>
              <a:cs typeface="Times New Roman" pitchFamily="18" charset="0"/>
            </a:endParaRPr>
          </a:p>
          <a:p>
            <a:pPr algn="l" rtl="0"/>
            <a:endParaRPr lang="ar-SA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72100" y="3059668"/>
            <a:ext cx="933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1_V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800600" y="3962400"/>
            <a:ext cx="933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>
                <a:solidFill>
                  <a:schemeClr val="bg1"/>
                </a:solidFill>
              </a:rPr>
              <a:t>2_V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10200" y="4888468"/>
            <a:ext cx="933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3_V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086600" y="3962400"/>
            <a:ext cx="933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>
                <a:solidFill>
                  <a:schemeClr val="bg1"/>
                </a:solidFill>
              </a:rPr>
              <a:t>5_V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717096" y="3037912"/>
            <a:ext cx="933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6_V</a:t>
            </a:r>
            <a:endParaRPr 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20145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`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752600" y="2438400"/>
            <a:ext cx="5867399" cy="156966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9600" b="1" cap="none" spc="0" dirty="0" smtClean="0">
                <a:ln w="24500" cmpd="dbl">
                  <a:solidFill>
                    <a:schemeClr val="accent2">
                      <a:shade val="85000"/>
                      <a:satMod val="155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2">
                        <a:tint val="10000"/>
                        <a:satMod val="155000"/>
                      </a:schemeClr>
                    </a:gs>
                    <a:gs pos="60000">
                      <a:schemeClr val="accent2">
                        <a:tint val="30000"/>
                        <a:satMod val="155000"/>
                      </a:schemeClr>
                    </a:gs>
                    <a:gs pos="100000">
                      <a:schemeClr val="accent2">
                        <a:tint val="73000"/>
                        <a:satMod val="155000"/>
                      </a:schemeClr>
                    </a:gs>
                  </a:gsLst>
                  <a:lin ang="5400000"/>
                </a:gradFill>
                <a:effectLst>
                  <a:outerShdw blurRad="38100" dist="38100" dir="7020000" algn="tl">
                    <a:srgbClr val="000000">
                      <a:alpha val="35000"/>
                    </a:srgbClr>
                  </a:outerShdw>
                </a:effectLst>
              </a:rPr>
              <a:t>EXAMPLE</a:t>
            </a:r>
            <a:endParaRPr lang="en-US" sz="5400" b="1" cap="none" spc="0" dirty="0">
              <a:ln w="24500" cmpd="dbl">
                <a:solidFill>
                  <a:schemeClr val="accent2">
                    <a:shade val="85000"/>
                    <a:satMod val="155000"/>
                  </a:schemeClr>
                </a:solidFill>
                <a:prstDash val="solid"/>
                <a:miter lim="800000"/>
              </a:ln>
              <a:gradFill>
                <a:gsLst>
                  <a:gs pos="10000">
                    <a:schemeClr val="accent2">
                      <a:tint val="10000"/>
                      <a:satMod val="155000"/>
                    </a:schemeClr>
                  </a:gs>
                  <a:gs pos="60000">
                    <a:schemeClr val="accent2">
                      <a:tint val="30000"/>
                      <a:satMod val="155000"/>
                    </a:schemeClr>
                  </a:gs>
                  <a:gs pos="100000">
                    <a:schemeClr val="accent2">
                      <a:tint val="73000"/>
                      <a:satMod val="155000"/>
                    </a:schemeClr>
                  </a:gs>
                </a:gsLst>
                <a:lin ang="5400000"/>
              </a:gradFill>
              <a:effectLst>
                <a:outerShdw blurRad="38100" dist="38100" dir="7020000" algn="tl">
                  <a:srgbClr val="000000">
                    <a:alpha val="35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024251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817583"/>
            <a:ext cx="6965245" cy="1011218"/>
          </a:xfrm>
        </p:spPr>
        <p:txBody>
          <a:bodyPr>
            <a:noAutofit/>
          </a:bodyPr>
          <a:lstStyle/>
          <a:p>
            <a:r>
              <a:rPr lang="en-US" sz="36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Mouse Interface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 rtl="0"/>
            <a:r>
              <a:rPr lang="en-US" b="1" dirty="0" err="1" smtClean="0">
                <a:solidFill>
                  <a:srgbClr val="002060"/>
                </a:solidFill>
              </a:rPr>
              <a:t>MouseListener</a:t>
            </a:r>
            <a:r>
              <a:rPr lang="en-US" dirty="0" smtClean="0">
                <a:solidFill>
                  <a:srgbClr val="002060"/>
                </a:solidFill>
              </a:rPr>
              <a:t> </a:t>
            </a:r>
            <a:r>
              <a:rPr lang="en-US" dirty="0" smtClean="0"/>
              <a:t>is the interface to interacting with the mouse.</a:t>
            </a:r>
          </a:p>
          <a:p>
            <a:pPr algn="l" rtl="0"/>
            <a:r>
              <a:rPr lang="en-US" dirty="0" smtClean="0"/>
              <a:t>Also it have some abstract methods.</a:t>
            </a:r>
          </a:p>
          <a:p>
            <a:pPr algn="l" rtl="0"/>
            <a:r>
              <a:rPr lang="en-US" b="1" dirty="0">
                <a:solidFill>
                  <a:srgbClr val="0000FF"/>
                </a:solidFill>
              </a:rPr>
              <a:t>public</a:t>
            </a:r>
            <a:r>
              <a:rPr lang="en-US" b="1" dirty="0"/>
              <a:t> </a:t>
            </a:r>
            <a:r>
              <a:rPr lang="en-US" b="1" dirty="0">
                <a:solidFill>
                  <a:srgbClr val="0000FF"/>
                </a:solidFill>
              </a:rPr>
              <a:t>void</a:t>
            </a:r>
            <a:r>
              <a:rPr lang="en-US" b="1" dirty="0"/>
              <a:t> </a:t>
            </a:r>
            <a:r>
              <a:rPr lang="en-US" b="1" dirty="0" err="1"/>
              <a:t>mouseClicked</a:t>
            </a:r>
            <a:r>
              <a:rPr lang="en-US" b="1" dirty="0"/>
              <a:t>(</a:t>
            </a:r>
            <a:r>
              <a:rPr lang="en-US" b="1" dirty="0" err="1">
                <a:solidFill>
                  <a:srgbClr val="002060"/>
                </a:solidFill>
              </a:rPr>
              <a:t>MouseEvent</a:t>
            </a:r>
            <a:r>
              <a:rPr lang="en-US" b="1" dirty="0">
                <a:solidFill>
                  <a:srgbClr val="002060"/>
                </a:solidFill>
              </a:rPr>
              <a:t> </a:t>
            </a:r>
            <a:r>
              <a:rPr lang="en-US" b="1" dirty="0" smtClean="0"/>
              <a:t>e)</a:t>
            </a:r>
          </a:p>
          <a:p>
            <a:pPr algn="l" rtl="0"/>
            <a:r>
              <a:rPr lang="en-US" b="1" dirty="0">
                <a:solidFill>
                  <a:srgbClr val="0000FF"/>
                </a:solidFill>
              </a:rPr>
              <a:t>public</a:t>
            </a:r>
            <a:r>
              <a:rPr lang="en-US" b="1" dirty="0"/>
              <a:t> </a:t>
            </a:r>
            <a:r>
              <a:rPr lang="en-US" b="1" dirty="0">
                <a:solidFill>
                  <a:srgbClr val="0000FF"/>
                </a:solidFill>
              </a:rPr>
              <a:t>void</a:t>
            </a:r>
            <a:r>
              <a:rPr lang="en-US" b="1" dirty="0"/>
              <a:t> </a:t>
            </a:r>
            <a:r>
              <a:rPr lang="en-US" b="1" dirty="0" err="1" smtClean="0"/>
              <a:t>mousePressed</a:t>
            </a:r>
            <a:r>
              <a:rPr lang="en-US" b="1" dirty="0" smtClean="0"/>
              <a:t>(</a:t>
            </a:r>
            <a:r>
              <a:rPr lang="en-US" b="1" dirty="0" err="1" smtClean="0">
                <a:solidFill>
                  <a:srgbClr val="002060"/>
                </a:solidFill>
              </a:rPr>
              <a:t>MouseEvent</a:t>
            </a:r>
            <a:r>
              <a:rPr lang="en-US" b="1" dirty="0" smtClean="0">
                <a:solidFill>
                  <a:srgbClr val="002060"/>
                </a:solidFill>
              </a:rPr>
              <a:t> </a:t>
            </a:r>
            <a:r>
              <a:rPr lang="en-US" b="1" dirty="0"/>
              <a:t>e)</a:t>
            </a:r>
            <a:endParaRPr lang="en-US" dirty="0"/>
          </a:p>
          <a:p>
            <a:pPr algn="l" rtl="0"/>
            <a:r>
              <a:rPr lang="en-US" b="1" dirty="0" smtClean="0">
                <a:solidFill>
                  <a:srgbClr val="0000FF"/>
                </a:solidFill>
              </a:rPr>
              <a:t>public</a:t>
            </a:r>
            <a:r>
              <a:rPr lang="en-US" b="1" dirty="0" smtClean="0"/>
              <a:t> </a:t>
            </a:r>
            <a:r>
              <a:rPr lang="en-US" b="1" dirty="0">
                <a:solidFill>
                  <a:srgbClr val="0000FF"/>
                </a:solidFill>
              </a:rPr>
              <a:t>void</a:t>
            </a:r>
            <a:r>
              <a:rPr lang="en-US" b="1" dirty="0"/>
              <a:t> </a:t>
            </a:r>
            <a:r>
              <a:rPr lang="en-US" b="1" dirty="0" err="1" smtClean="0"/>
              <a:t>mouseReleased</a:t>
            </a:r>
            <a:r>
              <a:rPr lang="en-US" b="1" dirty="0" smtClean="0"/>
              <a:t>(</a:t>
            </a:r>
            <a:r>
              <a:rPr lang="en-US" b="1" dirty="0" err="1" smtClean="0">
                <a:solidFill>
                  <a:srgbClr val="002060"/>
                </a:solidFill>
              </a:rPr>
              <a:t>MouseEvent</a:t>
            </a:r>
            <a:r>
              <a:rPr lang="en-US" b="1" dirty="0" smtClean="0">
                <a:solidFill>
                  <a:srgbClr val="002060"/>
                </a:solidFill>
              </a:rPr>
              <a:t> </a:t>
            </a:r>
            <a:r>
              <a:rPr lang="en-US" b="1" dirty="0"/>
              <a:t>e</a:t>
            </a:r>
            <a:r>
              <a:rPr lang="en-US" b="1" dirty="0" smtClean="0"/>
              <a:t>)</a:t>
            </a:r>
            <a:endParaRPr lang="en-US" dirty="0" smtClean="0"/>
          </a:p>
          <a:p>
            <a:pPr algn="l" rtl="0"/>
            <a:r>
              <a:rPr lang="en-US" b="1" dirty="0">
                <a:solidFill>
                  <a:srgbClr val="0000FF"/>
                </a:solidFill>
              </a:rPr>
              <a:t>public</a:t>
            </a:r>
            <a:r>
              <a:rPr lang="en-US" b="1" dirty="0"/>
              <a:t> </a:t>
            </a:r>
            <a:r>
              <a:rPr lang="en-US" b="1" dirty="0">
                <a:solidFill>
                  <a:srgbClr val="0000FF"/>
                </a:solidFill>
              </a:rPr>
              <a:t>void</a:t>
            </a:r>
            <a:r>
              <a:rPr lang="en-US" b="1" dirty="0"/>
              <a:t> </a:t>
            </a:r>
            <a:r>
              <a:rPr lang="en-US" b="1" dirty="0" err="1" smtClean="0"/>
              <a:t>mouseEntered</a:t>
            </a:r>
            <a:r>
              <a:rPr lang="en-US" b="1" dirty="0" err="1" smtClean="0">
                <a:solidFill>
                  <a:srgbClr val="002060"/>
                </a:solidFill>
              </a:rPr>
              <a:t>MouseEvent</a:t>
            </a:r>
            <a:r>
              <a:rPr lang="en-US" b="1" dirty="0" smtClean="0">
                <a:solidFill>
                  <a:srgbClr val="002060"/>
                </a:solidFill>
              </a:rPr>
              <a:t> </a:t>
            </a:r>
            <a:r>
              <a:rPr lang="en-US" b="1" dirty="0"/>
              <a:t>e</a:t>
            </a:r>
            <a:r>
              <a:rPr lang="en-US" b="1" dirty="0" smtClean="0"/>
              <a:t>)</a:t>
            </a:r>
          </a:p>
          <a:p>
            <a:pPr algn="l" rtl="0"/>
            <a:r>
              <a:rPr lang="en-US" b="1" dirty="0">
                <a:solidFill>
                  <a:srgbClr val="0000FF"/>
                </a:solidFill>
              </a:rPr>
              <a:t>public</a:t>
            </a:r>
            <a:r>
              <a:rPr lang="en-US" b="1" dirty="0"/>
              <a:t> </a:t>
            </a:r>
            <a:r>
              <a:rPr lang="en-US" b="1" dirty="0">
                <a:solidFill>
                  <a:srgbClr val="0000FF"/>
                </a:solidFill>
              </a:rPr>
              <a:t>void</a:t>
            </a:r>
            <a:r>
              <a:rPr lang="en-US" b="1" dirty="0"/>
              <a:t> </a:t>
            </a:r>
            <a:r>
              <a:rPr lang="en-US" b="1" dirty="0" err="1" smtClean="0"/>
              <a:t>mouseExited</a:t>
            </a:r>
            <a:r>
              <a:rPr lang="en-US" b="1" dirty="0" smtClean="0"/>
              <a:t>(</a:t>
            </a:r>
            <a:r>
              <a:rPr lang="en-US" b="1" dirty="0" err="1" smtClean="0">
                <a:solidFill>
                  <a:srgbClr val="002060"/>
                </a:solidFill>
              </a:rPr>
              <a:t>MouseEvent</a:t>
            </a:r>
            <a:r>
              <a:rPr lang="en-US" b="1" dirty="0" smtClean="0">
                <a:solidFill>
                  <a:srgbClr val="002060"/>
                </a:solidFill>
              </a:rPr>
              <a:t> </a:t>
            </a:r>
            <a:r>
              <a:rPr lang="en-US" b="1" dirty="0"/>
              <a:t>e)</a:t>
            </a:r>
            <a:endParaRPr lang="en-US" dirty="0"/>
          </a:p>
          <a:p>
            <a:pPr algn="l" rtl="0"/>
            <a:endParaRPr lang="en-US" dirty="0"/>
          </a:p>
          <a:p>
            <a:pPr algn="l" rtl="0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817583"/>
            <a:ext cx="6965245" cy="782618"/>
          </a:xfrm>
        </p:spPr>
        <p:txBody>
          <a:bodyPr>
            <a:normAutofit/>
          </a:bodyPr>
          <a:lstStyle/>
          <a:p>
            <a:r>
              <a:rPr lang="en-US" sz="3600" b="1" spc="50" dirty="0" err="1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MouseEntered</a:t>
            </a:r>
            <a:endParaRPr lang="en-US" sz="3600" b="1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/>
            <a:r>
              <a:rPr lang="en-US" dirty="0" smtClean="0"/>
              <a:t>This method will be called when you enter to the canvas.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2133600" y="3276600"/>
            <a:ext cx="4876800" cy="24384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/>
          <p:cNvCxnSpPr/>
          <p:nvPr/>
        </p:nvCxnSpPr>
        <p:spPr>
          <a:xfrm flipH="1">
            <a:off x="4267200" y="4953000"/>
            <a:ext cx="1066800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817583"/>
            <a:ext cx="6965245" cy="782618"/>
          </a:xfrm>
        </p:spPr>
        <p:txBody>
          <a:bodyPr>
            <a:normAutofit/>
          </a:bodyPr>
          <a:lstStyle/>
          <a:p>
            <a:r>
              <a:rPr lang="en-US" sz="3600" b="1" spc="50" dirty="0" err="1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MouseExited</a:t>
            </a:r>
            <a:endParaRPr lang="en-US" sz="3600" b="1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/>
            <a:r>
              <a:rPr lang="en-US" dirty="0" smtClean="0"/>
              <a:t>This method will be called when you leave the canvas.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2133600" y="3276600"/>
            <a:ext cx="4876800" cy="24384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/>
          <p:cNvCxnSpPr/>
          <p:nvPr/>
        </p:nvCxnSpPr>
        <p:spPr>
          <a:xfrm flipH="1">
            <a:off x="2590800" y="4687614"/>
            <a:ext cx="1219200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4900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4.81481E-6 L -0.625 0.01644 " pathEditMode="relative" rAng="0" ptsTypes="AA">
                                      <p:cBhvr>
                                        <p:cTn id="6" dur="2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1250" y="81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pc="50" dirty="0" err="1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MouseEvent</a:t>
            </a:r>
            <a:endParaRPr lang="ar-S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 rtl="0"/>
            <a:r>
              <a:rPr lang="en-US" sz="2000" dirty="0"/>
              <a:t>An event which indicates that a mouse action occurred in a component</a:t>
            </a:r>
            <a:r>
              <a:rPr lang="en-US" sz="2000" dirty="0" smtClean="0"/>
              <a:t>.</a:t>
            </a:r>
          </a:p>
          <a:p>
            <a:pPr algn="l" rtl="0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We have many methods inside 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MouseEvent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class </a:t>
            </a:r>
          </a:p>
          <a:p>
            <a:pPr algn="l" rtl="0"/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getButton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()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 use to return type of mouse button the you clicked (1,2 or 3 should be returned)</a:t>
            </a:r>
            <a:endParaRPr lang="ar-SA" sz="2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8587391">
            <a:off x="5167323" y="4075155"/>
            <a:ext cx="2214562" cy="17065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7" name="Straight Arrow Connector 6"/>
          <p:cNvCxnSpPr/>
          <p:nvPr/>
        </p:nvCxnSpPr>
        <p:spPr>
          <a:xfrm>
            <a:off x="5410199" y="4191000"/>
            <a:ext cx="864405" cy="4572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876798" y="3886200"/>
            <a:ext cx="5334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1</a:t>
            </a:r>
            <a:endParaRPr lang="en-US" b="1" dirty="0"/>
          </a:p>
        </p:txBody>
      </p:sp>
      <p:cxnSp>
        <p:nvCxnSpPr>
          <p:cNvPr id="18" name="Straight Arrow Connector 17"/>
          <p:cNvCxnSpPr/>
          <p:nvPr/>
        </p:nvCxnSpPr>
        <p:spPr>
          <a:xfrm flipH="1">
            <a:off x="6781799" y="4043065"/>
            <a:ext cx="762001" cy="605135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315198" y="3729335"/>
            <a:ext cx="5334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3</a:t>
            </a:r>
            <a:endParaRPr lang="en-US" b="1" dirty="0"/>
          </a:p>
        </p:txBody>
      </p:sp>
      <p:cxnSp>
        <p:nvCxnSpPr>
          <p:cNvPr id="21" name="Straight Arrow Connector 20"/>
          <p:cNvCxnSpPr/>
          <p:nvPr/>
        </p:nvCxnSpPr>
        <p:spPr>
          <a:xfrm flipH="1" flipV="1">
            <a:off x="6553199" y="4928452"/>
            <a:ext cx="990601" cy="253148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315199" y="4876800"/>
            <a:ext cx="5334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2</a:t>
            </a:r>
            <a:endParaRPr lang="en-US" b="1" dirty="0"/>
          </a:p>
        </p:txBody>
      </p:sp>
      <p:sp>
        <p:nvSpPr>
          <p:cNvPr id="22" name="TextBox 21"/>
          <p:cNvSpPr txBox="1"/>
          <p:nvPr/>
        </p:nvSpPr>
        <p:spPr>
          <a:xfrm>
            <a:off x="1663693" y="4051289"/>
            <a:ext cx="320040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0"/>
            <a:r>
              <a:rPr lang="en-US" b="1" dirty="0" err="1" smtClean="0"/>
              <a:t>getX</a:t>
            </a:r>
            <a:r>
              <a:rPr lang="en-US" b="1" dirty="0" smtClean="0"/>
              <a:t>(): </a:t>
            </a:r>
            <a:r>
              <a:rPr lang="en-US" dirty="0" smtClean="0"/>
              <a:t>return X value on the frame when you clicked</a:t>
            </a:r>
          </a:p>
          <a:p>
            <a:pPr algn="l" rtl="0"/>
            <a:endParaRPr lang="en-US" dirty="0" smtClean="0"/>
          </a:p>
          <a:p>
            <a:pPr algn="l" rtl="0"/>
            <a:r>
              <a:rPr lang="en-US" b="1" dirty="0" err="1" smtClean="0"/>
              <a:t>getY</a:t>
            </a:r>
            <a:r>
              <a:rPr lang="en-US" b="1" dirty="0" smtClean="0"/>
              <a:t>(): </a:t>
            </a:r>
            <a:r>
              <a:rPr lang="en-US" dirty="0"/>
              <a:t>return </a:t>
            </a:r>
            <a:r>
              <a:rPr lang="en-US" dirty="0" smtClean="0"/>
              <a:t>Y </a:t>
            </a:r>
            <a:r>
              <a:rPr lang="en-US" dirty="0"/>
              <a:t>value on the frame when you clicked</a:t>
            </a:r>
          </a:p>
          <a:p>
            <a:pPr algn="l" rt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3657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2438400"/>
            <a:ext cx="5867399" cy="156966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9600" b="1" cap="none" spc="0" dirty="0" smtClean="0">
                <a:ln w="24500" cmpd="dbl">
                  <a:solidFill>
                    <a:schemeClr val="accent2">
                      <a:shade val="85000"/>
                      <a:satMod val="155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2">
                        <a:tint val="10000"/>
                        <a:satMod val="155000"/>
                      </a:schemeClr>
                    </a:gs>
                    <a:gs pos="60000">
                      <a:schemeClr val="accent2">
                        <a:tint val="30000"/>
                        <a:satMod val="155000"/>
                      </a:schemeClr>
                    </a:gs>
                    <a:gs pos="100000">
                      <a:schemeClr val="accent2">
                        <a:tint val="73000"/>
                        <a:satMod val="155000"/>
                      </a:schemeClr>
                    </a:gs>
                  </a:gsLst>
                  <a:lin ang="5400000"/>
                </a:gradFill>
                <a:effectLst>
                  <a:outerShdw blurRad="38100" dist="38100" dir="7020000" algn="tl">
                    <a:srgbClr val="000000">
                      <a:alpha val="35000"/>
                    </a:srgbClr>
                  </a:outerShdw>
                </a:effectLst>
              </a:rPr>
              <a:t>EXAMPLE</a:t>
            </a:r>
            <a:endParaRPr lang="en-US" sz="5400" b="1" cap="none" spc="0" dirty="0">
              <a:ln w="24500" cmpd="dbl">
                <a:solidFill>
                  <a:schemeClr val="accent2">
                    <a:shade val="85000"/>
                    <a:satMod val="155000"/>
                  </a:schemeClr>
                </a:solidFill>
                <a:prstDash val="solid"/>
                <a:miter lim="800000"/>
              </a:ln>
              <a:gradFill>
                <a:gsLst>
                  <a:gs pos="10000">
                    <a:schemeClr val="accent2">
                      <a:tint val="10000"/>
                      <a:satMod val="155000"/>
                    </a:schemeClr>
                  </a:gs>
                  <a:gs pos="60000">
                    <a:schemeClr val="accent2">
                      <a:tint val="30000"/>
                      <a:satMod val="155000"/>
                    </a:schemeClr>
                  </a:gs>
                  <a:gs pos="100000">
                    <a:schemeClr val="accent2">
                      <a:tint val="73000"/>
                      <a:satMod val="155000"/>
                    </a:schemeClr>
                  </a:gs>
                </a:gsLst>
                <a:lin ang="5400000"/>
              </a:gradFill>
              <a:effectLst>
                <a:outerShdw blurRad="38100" dist="38100" dir="7020000" algn="tl">
                  <a:srgbClr val="000000">
                    <a:alpha val="35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8963223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 smtClean="0"/>
              <a:t>Window coordinate to </a:t>
            </a:r>
            <a:r>
              <a:rPr lang="en-US" sz="4400" dirty="0"/>
              <a:t>O</a:t>
            </a:r>
            <a:r>
              <a:rPr lang="en-US" sz="4400" dirty="0" smtClean="0"/>
              <a:t>penGL coordinate </a:t>
            </a:r>
            <a:endParaRPr lang="en-US"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6065" y="2362200"/>
            <a:ext cx="5277587" cy="3115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83221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Class Activity</a:t>
            </a:r>
            <a:endParaRPr lang="ar-S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 rtl="0">
              <a:buNone/>
            </a:pPr>
            <a:endParaRPr lang="ar-SA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l" rtl="0"/>
            <a:endParaRPr lang="ar-SA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066800" y="5410200"/>
            <a:ext cx="3200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/>
              <a:t>Left click</a:t>
            </a:r>
          </a:p>
          <a:p>
            <a:pPr algn="l"/>
            <a:r>
              <a:rPr lang="en-US" b="1" dirty="0" smtClean="0">
                <a:solidFill>
                  <a:srgbClr val="FF0000"/>
                </a:solidFill>
              </a:rPr>
              <a:t>r= red  </a:t>
            </a:r>
            <a:r>
              <a:rPr lang="en-US" dirty="0" smtClean="0"/>
              <a:t>,   </a:t>
            </a:r>
            <a:r>
              <a:rPr lang="en-US" b="1" dirty="0" smtClean="0">
                <a:solidFill>
                  <a:srgbClr val="00B050"/>
                </a:solidFill>
              </a:rPr>
              <a:t>g=green</a:t>
            </a:r>
            <a:r>
              <a:rPr lang="en-US" dirty="0" smtClean="0"/>
              <a:t>  ,   </a:t>
            </a:r>
            <a:r>
              <a:rPr lang="en-US" b="1" dirty="0" smtClean="0">
                <a:solidFill>
                  <a:srgbClr val="0000FF"/>
                </a:solidFill>
              </a:rPr>
              <a:t>b=blue</a:t>
            </a:r>
            <a:endParaRPr lang="en-US" b="1" dirty="0">
              <a:solidFill>
                <a:srgbClr val="0000FF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750676" y="5449669"/>
            <a:ext cx="3200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/>
              <a:t>Right click</a:t>
            </a:r>
          </a:p>
          <a:p>
            <a:pPr algn="l"/>
            <a:r>
              <a:rPr lang="en-US" b="1" dirty="0" smtClean="0">
                <a:solidFill>
                  <a:srgbClr val="FF0000"/>
                </a:solidFill>
              </a:rPr>
              <a:t>r= red  </a:t>
            </a:r>
            <a:r>
              <a:rPr lang="en-US" dirty="0" smtClean="0"/>
              <a:t>,   </a:t>
            </a:r>
            <a:r>
              <a:rPr lang="en-US" b="1" dirty="0" smtClean="0">
                <a:solidFill>
                  <a:srgbClr val="00B050"/>
                </a:solidFill>
              </a:rPr>
              <a:t>g=green</a:t>
            </a:r>
            <a:r>
              <a:rPr lang="en-US" dirty="0" smtClean="0"/>
              <a:t>  ,   </a:t>
            </a:r>
            <a:r>
              <a:rPr lang="en-US" b="1" dirty="0" smtClean="0">
                <a:solidFill>
                  <a:srgbClr val="0000FF"/>
                </a:solidFill>
              </a:rPr>
              <a:t>b=blue</a:t>
            </a:r>
            <a:endParaRPr lang="en-US" b="1" dirty="0">
              <a:solidFill>
                <a:srgbClr val="0000FF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4257" y="2895600"/>
            <a:ext cx="3369143" cy="21663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1019" y="2895601"/>
            <a:ext cx="3259981" cy="2128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9455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36" t="17408" r="48543" b="29259"/>
          <a:stretch/>
        </p:blipFill>
        <p:spPr bwMode="auto">
          <a:xfrm>
            <a:off x="838200" y="508000"/>
            <a:ext cx="4152370" cy="2895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34" t="17222" r="49062" b="28888"/>
          <a:stretch/>
        </p:blipFill>
        <p:spPr bwMode="auto">
          <a:xfrm>
            <a:off x="4172478" y="2590800"/>
            <a:ext cx="4222221" cy="30040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1407386" y="3688834"/>
            <a:ext cx="23583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b="1" dirty="0"/>
              <a:t>Left </a:t>
            </a:r>
            <a:r>
              <a:rPr lang="en-US" b="1" dirty="0" smtClean="0"/>
              <a:t>click line stippled </a:t>
            </a:r>
            <a:endParaRPr lang="en-US" b="1" dirty="0"/>
          </a:p>
        </p:txBody>
      </p:sp>
      <p:sp>
        <p:nvSpPr>
          <p:cNvPr id="5" name="Rectangle 4"/>
          <p:cNvSpPr/>
          <p:nvPr/>
        </p:nvSpPr>
        <p:spPr>
          <a:xfrm>
            <a:off x="4092460" y="5615805"/>
            <a:ext cx="33682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b="1" dirty="0" smtClean="0"/>
              <a:t>Right click line stippled disabled </a:t>
            </a:r>
            <a:endParaRPr lang="en-US" b="1" dirty="0"/>
          </a:p>
        </p:txBody>
      </p:sp>
      <p:sp>
        <p:nvSpPr>
          <p:cNvPr id="6" name="Rectangle 5"/>
          <p:cNvSpPr/>
          <p:nvPr/>
        </p:nvSpPr>
        <p:spPr>
          <a:xfrm>
            <a:off x="4297644" y="5978271"/>
            <a:ext cx="29578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b="1" dirty="0">
                <a:solidFill>
                  <a:srgbClr val="FF0000"/>
                </a:solidFill>
              </a:rPr>
              <a:t>r= red  </a:t>
            </a:r>
            <a:r>
              <a:rPr lang="en-US" dirty="0"/>
              <a:t>,   </a:t>
            </a:r>
            <a:r>
              <a:rPr lang="en-US" b="1" dirty="0">
                <a:solidFill>
                  <a:srgbClr val="00B050"/>
                </a:solidFill>
              </a:rPr>
              <a:t>g=green</a:t>
            </a:r>
            <a:r>
              <a:rPr lang="en-US" dirty="0"/>
              <a:t>  ,   </a:t>
            </a:r>
            <a:r>
              <a:rPr lang="en-US" b="1" dirty="0">
                <a:solidFill>
                  <a:srgbClr val="0000FF"/>
                </a:solidFill>
              </a:rPr>
              <a:t>b=blue</a:t>
            </a:r>
          </a:p>
        </p:txBody>
      </p:sp>
    </p:spTree>
    <p:extLst>
      <p:ext uri="{BB962C8B-B14F-4D97-AF65-F5344CB8AC3E}">
        <p14:creationId xmlns:p14="http://schemas.microsoft.com/office/powerpoint/2010/main" val="41982597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9757</TotalTime>
  <Words>407</Words>
  <Application>Microsoft Office PowerPoint</Application>
  <PresentationFormat>On-screen Show (4:3)</PresentationFormat>
  <Paragraphs>84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Times New Roman</vt:lpstr>
      <vt:lpstr>Retrospect</vt:lpstr>
      <vt:lpstr>PowerPoint Presentation</vt:lpstr>
      <vt:lpstr>OUTLINE</vt:lpstr>
      <vt:lpstr>Key Interface</vt:lpstr>
      <vt:lpstr>Key Pressed</vt:lpstr>
      <vt:lpstr>Key Typed</vt:lpstr>
      <vt:lpstr>Key Released</vt:lpstr>
      <vt:lpstr>KeyEvent </vt:lpstr>
      <vt:lpstr>`</vt:lpstr>
      <vt:lpstr>Mouse Interface</vt:lpstr>
      <vt:lpstr>MouseEntered</vt:lpstr>
      <vt:lpstr>MouseExited</vt:lpstr>
      <vt:lpstr>MouseEvent</vt:lpstr>
      <vt:lpstr>PowerPoint Presentation</vt:lpstr>
      <vt:lpstr>Window coordinate to OpenGL coordinate </vt:lpstr>
      <vt:lpstr>Class Activity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Dear User!</dc:creator>
  <cp:lastModifiedBy>tara</cp:lastModifiedBy>
  <cp:revision>90</cp:revision>
  <dcterms:created xsi:type="dcterms:W3CDTF">2012-10-17T21:03:15Z</dcterms:created>
  <dcterms:modified xsi:type="dcterms:W3CDTF">2024-12-01T17:01:28Z</dcterms:modified>
</cp:coreProperties>
</file>