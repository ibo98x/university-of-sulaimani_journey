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56" r:id="rId1"/>
  </p:sldMasterIdLst>
  <p:notesMasterIdLst>
    <p:notesMasterId r:id="rId16"/>
  </p:notesMasterIdLst>
  <p:sldIdLst>
    <p:sldId id="276" r:id="rId2"/>
    <p:sldId id="268" r:id="rId3"/>
    <p:sldId id="275" r:id="rId4"/>
    <p:sldId id="284" r:id="rId5"/>
    <p:sldId id="285" r:id="rId6"/>
    <p:sldId id="286" r:id="rId7"/>
    <p:sldId id="278" r:id="rId8"/>
    <p:sldId id="287" r:id="rId9"/>
    <p:sldId id="288" r:id="rId10"/>
    <p:sldId id="279" r:id="rId11"/>
    <p:sldId id="280" r:id="rId12"/>
    <p:sldId id="281" r:id="rId13"/>
    <p:sldId id="282" r:id="rId14"/>
    <p:sldId id="283" r:id="rId15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7FC98-959D-4F9A-85B3-8E6D5F89E331}" type="datetimeFigureOut">
              <a:rPr lang="en-US" smtClean="0"/>
              <a:pPr/>
              <a:t>11/10/2024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02B27-B519-472A-BEF8-95E1659D5C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2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09/05/1446</a:t>
            </a:fld>
            <a:endParaRPr lang="ar-SA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09/05/1446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09/05/1446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ar-SA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09/05/1446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09/05/1446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09/05/1446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09/05/1446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09/05/1446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09/05/1446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09/05/1446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09/05/1446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84FF690-5B44-41DE-837B-E49615ED5241}" type="datetimeFigureOut">
              <a:rPr lang="ar-SA" smtClean="0"/>
              <a:pPr/>
              <a:t>09/05/1446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ar-SA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n.wikipedia.org/wiki/Java_(programming_language)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0"/>
            <a:ext cx="8839200" cy="2167465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Introduction of JOGL and Point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060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2000" b="1" dirty="0"/>
              <a:t>Java OpenGL</a:t>
            </a:r>
            <a:r>
              <a:rPr lang="en-US" sz="2000" dirty="0"/>
              <a:t> (</a:t>
            </a:r>
            <a:r>
              <a:rPr lang="en-US" sz="2000" b="1" dirty="0"/>
              <a:t>JOGL</a:t>
            </a:r>
            <a:r>
              <a:rPr lang="en-US" sz="2000" dirty="0"/>
              <a:t>) is a wrapper library that allows OpenGL to be used in the Java programming</a:t>
            </a:r>
            <a:r>
              <a:rPr lang="en-US" sz="2000" dirty="0">
                <a:hlinkClick r:id="rId2" tooltip="Java (programming language)"/>
              </a:rPr>
              <a:t> </a:t>
            </a:r>
            <a:r>
              <a:rPr lang="en-US" sz="2000" dirty="0" smtClean="0"/>
              <a:t>language for graphical purpose.</a:t>
            </a:r>
          </a:p>
          <a:p>
            <a:pPr algn="l" rtl="0"/>
            <a:r>
              <a:rPr lang="en-US" sz="2000" dirty="0"/>
              <a:t>JOGL allows access to most OpenGL features available to </a:t>
            </a:r>
            <a:r>
              <a:rPr lang="en-US" sz="2000" b="1" dirty="0"/>
              <a:t>C</a:t>
            </a:r>
            <a:r>
              <a:rPr lang="en-US" sz="2000" dirty="0"/>
              <a:t> language</a:t>
            </a:r>
            <a:endParaRPr lang="en-US" sz="2000" dirty="0" smtClean="0"/>
          </a:p>
          <a:p>
            <a:pPr algn="l" rtl="0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1095023" y="625732"/>
            <a:ext cx="6965245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What is JOGL</a:t>
            </a:r>
            <a:endParaRPr lang="ar-SA" sz="36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4038600"/>
            <a:ext cx="558165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GLEventListener</a:t>
            </a: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l" rtl="0"/>
            <a:r>
              <a:rPr lang="en-US" dirty="0">
                <a:solidFill>
                  <a:srgbClr val="0000FF"/>
                </a:solidFill>
              </a:rPr>
              <a:t>void</a:t>
            </a:r>
            <a:r>
              <a:rPr lang="en-US" dirty="0"/>
              <a:t> </a:t>
            </a:r>
            <a:r>
              <a:rPr lang="en-US" b="1" dirty="0" err="1"/>
              <a:t>init</a:t>
            </a:r>
            <a:r>
              <a:rPr lang="en-US" dirty="0"/>
              <a:t>(</a:t>
            </a:r>
            <a:r>
              <a:rPr lang="en-US" dirty="0" err="1"/>
              <a:t>GLAutoDrawable</a:t>
            </a:r>
            <a:r>
              <a:rPr lang="en-US" dirty="0"/>
              <a:t> </a:t>
            </a:r>
            <a:r>
              <a:rPr lang="en-US" dirty="0" err="1"/>
              <a:t>drawable</a:t>
            </a:r>
            <a:r>
              <a:rPr lang="en-US" dirty="0" smtClean="0"/>
              <a:t>)</a:t>
            </a:r>
          </a:p>
          <a:p>
            <a:pPr algn="l" rtl="0"/>
            <a:r>
              <a:rPr lang="en-US" dirty="0"/>
              <a:t>Called by the </a:t>
            </a:r>
            <a:r>
              <a:rPr lang="en-US" dirty="0" err="1"/>
              <a:t>drawable</a:t>
            </a:r>
            <a:r>
              <a:rPr lang="en-US" dirty="0"/>
              <a:t> immediately after the OpenGL context is initialized. Can be used to perform one-time OpenGL initialization per </a:t>
            </a:r>
            <a:r>
              <a:rPr lang="en-US" dirty="0" err="1" smtClean="0"/>
              <a:t>GLContext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25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GLEventListener</a:t>
            </a: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l" rtl="0"/>
            <a:r>
              <a:rPr lang="en-US" dirty="0">
                <a:solidFill>
                  <a:srgbClr val="0000FF"/>
                </a:solidFill>
              </a:rPr>
              <a:t>void</a:t>
            </a:r>
            <a:r>
              <a:rPr lang="en-US" dirty="0"/>
              <a:t> </a:t>
            </a:r>
            <a:r>
              <a:rPr lang="en-US" b="1" dirty="0" smtClean="0"/>
              <a:t>display</a:t>
            </a:r>
            <a:r>
              <a:rPr lang="en-US" dirty="0" smtClean="0"/>
              <a:t>(</a:t>
            </a:r>
            <a:r>
              <a:rPr lang="en-US" dirty="0" err="1" smtClean="0"/>
              <a:t>GLAutoDrawable</a:t>
            </a:r>
            <a:r>
              <a:rPr lang="en-US" dirty="0"/>
              <a:t> </a:t>
            </a:r>
            <a:r>
              <a:rPr lang="en-US" dirty="0" err="1"/>
              <a:t>drawable</a:t>
            </a:r>
            <a:r>
              <a:rPr lang="en-US" dirty="0" smtClean="0"/>
              <a:t>)</a:t>
            </a:r>
          </a:p>
          <a:p>
            <a:pPr algn="l" rtl="0"/>
            <a:r>
              <a:rPr lang="en-US" dirty="0"/>
              <a:t>Called by the </a:t>
            </a:r>
            <a:r>
              <a:rPr lang="en-US" dirty="0" err="1"/>
              <a:t>drawable</a:t>
            </a:r>
            <a:r>
              <a:rPr lang="en-US" dirty="0"/>
              <a:t> to initiate OpenGL rendering by the client. </a:t>
            </a:r>
            <a:endParaRPr lang="en-US" dirty="0" smtClean="0"/>
          </a:p>
          <a:p>
            <a:pPr algn="l" rtl="0"/>
            <a:r>
              <a:rPr lang="en-US" dirty="0" smtClean="0"/>
              <a:t>It called </a:t>
            </a:r>
            <a:r>
              <a:rPr lang="en-US" dirty="0"/>
              <a:t>itself continuously if </a:t>
            </a:r>
            <a:r>
              <a:rPr lang="en-US" dirty="0" smtClean="0"/>
              <a:t>Animator class enabled.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25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GLEventListener</a:t>
            </a: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l" rtl="0"/>
            <a:r>
              <a:rPr lang="en-US" dirty="0">
                <a:solidFill>
                  <a:srgbClr val="0000FF"/>
                </a:solidFill>
              </a:rPr>
              <a:t>void</a:t>
            </a:r>
            <a:r>
              <a:rPr lang="en-US" dirty="0"/>
              <a:t> </a:t>
            </a:r>
            <a:r>
              <a:rPr lang="en-US" b="1" dirty="0"/>
              <a:t>dispose</a:t>
            </a:r>
            <a:r>
              <a:rPr lang="en-US" dirty="0" smtClean="0"/>
              <a:t>(</a:t>
            </a:r>
            <a:r>
              <a:rPr lang="en-US" dirty="0" err="1" smtClean="0"/>
              <a:t>GLAutoDrawable</a:t>
            </a:r>
            <a:r>
              <a:rPr lang="en-US" dirty="0"/>
              <a:t> </a:t>
            </a:r>
            <a:r>
              <a:rPr lang="en-US" dirty="0" err="1"/>
              <a:t>drawable</a:t>
            </a:r>
            <a:r>
              <a:rPr lang="en-US" dirty="0" smtClean="0"/>
              <a:t>)</a:t>
            </a:r>
          </a:p>
          <a:p>
            <a:pPr algn="l" rtl="0"/>
            <a:r>
              <a:rPr lang="en-US" dirty="0"/>
              <a:t>Notifies the listener to perform the release of all OpenGL resources per </a:t>
            </a:r>
            <a:r>
              <a:rPr lang="en-US" dirty="0" err="1"/>
              <a:t>GLContext</a:t>
            </a:r>
            <a:r>
              <a:rPr lang="en-US" dirty="0"/>
              <a:t>, such as memory </a:t>
            </a:r>
            <a:r>
              <a:rPr lang="en-US" dirty="0" smtClean="0"/>
              <a:t>buffers.</a:t>
            </a:r>
          </a:p>
        </p:txBody>
      </p:sp>
    </p:spTree>
    <p:extLst>
      <p:ext uri="{BB962C8B-B14F-4D97-AF65-F5344CB8AC3E}">
        <p14:creationId xmlns:p14="http://schemas.microsoft.com/office/powerpoint/2010/main" val="145425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GLEventListener</a:t>
            </a: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l" rtl="0"/>
            <a:r>
              <a:rPr lang="en-US" dirty="0">
                <a:solidFill>
                  <a:srgbClr val="0000FF"/>
                </a:solidFill>
              </a:rPr>
              <a:t>void</a:t>
            </a:r>
            <a:r>
              <a:rPr lang="en-US" dirty="0"/>
              <a:t> </a:t>
            </a:r>
            <a:r>
              <a:rPr lang="en-US" b="1" dirty="0"/>
              <a:t>reshape</a:t>
            </a:r>
            <a:r>
              <a:rPr lang="en-US" dirty="0"/>
              <a:t>(</a:t>
            </a:r>
            <a:r>
              <a:rPr lang="en-US" dirty="0" err="1"/>
              <a:t>GLAutoDrawable</a:t>
            </a:r>
            <a:r>
              <a:rPr lang="en-US" dirty="0"/>
              <a:t> </a:t>
            </a:r>
            <a:r>
              <a:rPr lang="en-US" dirty="0" err="1"/>
              <a:t>drawable</a:t>
            </a:r>
            <a:r>
              <a:rPr lang="en-US" dirty="0"/>
              <a:t>, </a:t>
            </a:r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/>
              <a:t> x, </a:t>
            </a:r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/>
              <a:t> y, </a:t>
            </a:r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/>
              <a:t> </a:t>
            </a:r>
            <a:r>
              <a:rPr lang="en-US" dirty="0" smtClean="0"/>
              <a:t>width</a:t>
            </a:r>
            <a:r>
              <a:rPr lang="en-US" dirty="0"/>
              <a:t>, </a:t>
            </a:r>
            <a:r>
              <a:rPr lang="en-US" dirty="0" err="1">
                <a:solidFill>
                  <a:srgbClr val="0000FF"/>
                </a:solidFill>
              </a:rPr>
              <a:t>int</a:t>
            </a:r>
            <a:r>
              <a:rPr lang="en-US" dirty="0"/>
              <a:t> height) </a:t>
            </a:r>
            <a:endParaRPr lang="en-US" dirty="0" smtClean="0"/>
          </a:p>
          <a:p>
            <a:pPr algn="just" rtl="0"/>
            <a:r>
              <a:rPr lang="en-US" dirty="0"/>
              <a:t>Called by the </a:t>
            </a:r>
            <a:r>
              <a:rPr lang="en-US" dirty="0" err="1"/>
              <a:t>drawable</a:t>
            </a:r>
            <a:r>
              <a:rPr lang="en-US" dirty="0"/>
              <a:t> during the first repaint after the component has been resized.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5425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Canvas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1475656" y="1905000"/>
            <a:ext cx="2880320" cy="22440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835696" y="3212976"/>
            <a:ext cx="2232248" cy="0"/>
          </a:xfrm>
          <a:prstGeom prst="straightConnector1">
            <a:avLst/>
          </a:prstGeom>
          <a:ln>
            <a:solidFill>
              <a:schemeClr val="bg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951820" y="2492896"/>
            <a:ext cx="0" cy="1440160"/>
          </a:xfrm>
          <a:prstGeom prst="straightConnector1">
            <a:avLst/>
          </a:prstGeom>
          <a:ln>
            <a:solidFill>
              <a:schemeClr val="bg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475656" y="3068960"/>
            <a:ext cx="3600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 smtClean="0">
                <a:solidFill>
                  <a:schemeClr val="accent1"/>
                </a:solidFill>
              </a:rPr>
              <a:t>-1</a:t>
            </a:r>
            <a:endParaRPr lang="en-US" sz="1050" b="1" dirty="0">
              <a:solidFill>
                <a:schemeClr val="accent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23928" y="3068960"/>
            <a:ext cx="3600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 smtClean="0">
                <a:solidFill>
                  <a:schemeClr val="accent1"/>
                </a:solidFill>
              </a:rPr>
              <a:t>1</a:t>
            </a:r>
            <a:endParaRPr lang="en-US" sz="1050" b="1" dirty="0">
              <a:solidFill>
                <a:schemeClr val="accent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99792" y="3895164"/>
            <a:ext cx="3600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 smtClean="0">
                <a:solidFill>
                  <a:schemeClr val="accent1"/>
                </a:solidFill>
              </a:rPr>
              <a:t>-1</a:t>
            </a:r>
            <a:endParaRPr lang="en-US" sz="1050" b="1" dirty="0">
              <a:solidFill>
                <a:schemeClr val="accent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99792" y="2276872"/>
            <a:ext cx="3600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 smtClean="0">
                <a:solidFill>
                  <a:schemeClr val="accent1"/>
                </a:solidFill>
              </a:rPr>
              <a:t>1</a:t>
            </a:r>
            <a:endParaRPr lang="en-US" sz="1050" b="1" dirty="0">
              <a:solidFill>
                <a:schemeClr val="accent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27984" y="1905000"/>
            <a:ext cx="3344416" cy="22440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932040" y="3212976"/>
            <a:ext cx="2232248" cy="0"/>
          </a:xfrm>
          <a:prstGeom prst="straightConnector1">
            <a:avLst/>
          </a:prstGeom>
          <a:ln>
            <a:solidFill>
              <a:schemeClr val="bg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048164" y="2492896"/>
            <a:ext cx="0" cy="1440160"/>
          </a:xfrm>
          <a:prstGeom prst="straightConnector1">
            <a:avLst/>
          </a:prstGeom>
          <a:ln>
            <a:solidFill>
              <a:schemeClr val="bg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27984" y="3068960"/>
            <a:ext cx="5040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 smtClean="0">
                <a:solidFill>
                  <a:schemeClr val="accent1"/>
                </a:solidFill>
              </a:rPr>
              <a:t>-200</a:t>
            </a:r>
            <a:endParaRPr lang="en-US" sz="1050" b="1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20272" y="3068960"/>
            <a:ext cx="5040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 smtClean="0">
                <a:solidFill>
                  <a:schemeClr val="accent1"/>
                </a:solidFill>
              </a:rPr>
              <a:t>200</a:t>
            </a:r>
            <a:endParaRPr lang="en-US" sz="1050" b="1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24128" y="3895164"/>
            <a:ext cx="5040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 smtClean="0">
                <a:solidFill>
                  <a:schemeClr val="accent1"/>
                </a:solidFill>
              </a:rPr>
              <a:t>-100</a:t>
            </a:r>
            <a:endParaRPr lang="en-US" sz="1050" b="1" dirty="0">
              <a:solidFill>
                <a:schemeClr val="accent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96136" y="2276872"/>
            <a:ext cx="4320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 smtClean="0">
                <a:solidFill>
                  <a:schemeClr val="accent1"/>
                </a:solidFill>
              </a:rPr>
              <a:t>100</a:t>
            </a:r>
            <a:endParaRPr lang="en-US" sz="1050" b="1" dirty="0">
              <a:solidFill>
                <a:schemeClr val="accent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979712" y="4365104"/>
            <a:ext cx="1800200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Default Value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4860032" y="4365104"/>
            <a:ext cx="2196244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Change by Ortho2D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1979712" y="5013176"/>
            <a:ext cx="5184576" cy="5760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gluOrtho2D use to change default value of canvas to pixel number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23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Color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l" rtl="0"/>
            <a:r>
              <a:rPr lang="en-US" dirty="0"/>
              <a:t>An RGB color value is specified with: </a:t>
            </a:r>
            <a:r>
              <a:rPr lang="en-US" dirty="0" err="1"/>
              <a:t>rgb</a:t>
            </a:r>
            <a:r>
              <a:rPr lang="en-US" dirty="0"/>
              <a:t>(red, green, blue).</a:t>
            </a:r>
          </a:p>
          <a:p>
            <a:pPr algn="l" rtl="0"/>
            <a:r>
              <a:rPr lang="en-US" dirty="0"/>
              <a:t>Each parameter (red, green, and blue) defines the intensity of the color as an integer between 0 and 255.</a:t>
            </a:r>
          </a:p>
          <a:p>
            <a:pPr algn="l" rtl="0"/>
            <a:r>
              <a:rPr lang="en-US" dirty="0"/>
              <a:t>For example, </a:t>
            </a:r>
            <a:r>
              <a:rPr lang="en-US" dirty="0" err="1"/>
              <a:t>rgb</a:t>
            </a:r>
            <a:r>
              <a:rPr lang="en-US" dirty="0"/>
              <a:t>(0, 0, 255) is rendered as blue, because the blue parameter is set to its highest value (255) and the others are set to 0.</a:t>
            </a:r>
          </a:p>
          <a:p>
            <a:pPr marL="0" indent="0" algn="l" rtl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09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Color Details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575" y="2600325"/>
            <a:ext cx="2990850" cy="273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480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66800" y="533400"/>
            <a:ext cx="696524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What is the Vertex?</a:t>
            </a:r>
            <a:endParaRPr lang="ar-SA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l" rtl="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With OpenGL, all geometric objects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described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set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vertices.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l" rtl="0"/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Specifies a vertex for use in describing a geometric object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l" rtl="0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Legal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Uses of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glVertex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*()</a:t>
            </a:r>
            <a:endParaRPr lang="ar-SA" sz="2000" b="1" dirty="0">
              <a:latin typeface="Times New Roman" pitchFamily="18" charset="0"/>
              <a:cs typeface="Times New Roman" pitchFamily="18" charset="0"/>
            </a:endParaRPr>
          </a:p>
          <a:p>
            <a:pPr algn="l" rtl="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glVertex2s(2, 3);</a:t>
            </a:r>
          </a:p>
          <a:p>
            <a:pPr algn="l" rtl="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glVertex3d(0.0, 0.0, 3.1415926535898);</a:t>
            </a:r>
          </a:p>
          <a:p>
            <a:pPr algn="l" rtl="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glVertex4f(2.3f, 1.0f, -2.2f, 2.0f);</a:t>
            </a:r>
          </a:p>
          <a:p>
            <a:pPr algn="l" rtl="0"/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double[3]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dvect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= {5.0, 9.0, 1992.0};</a:t>
            </a:r>
          </a:p>
          <a:p>
            <a:pPr algn="l" rtl="0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glVertex3dv(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dvect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);</a:t>
            </a:r>
            <a:endParaRPr lang="ar-SA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2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What is the Vertex?</a:t>
            </a:r>
            <a:endParaRPr lang="ar-SA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204865"/>
            <a:ext cx="6120680" cy="3528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1531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Points Details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Point Size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l" rtl="0"/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glPointSize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control the size of a point</a:t>
            </a:r>
          </a:p>
          <a:p>
            <a:pPr algn="l" rtl="0"/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200" b="1" i="1" dirty="0" err="1">
                <a:latin typeface="Times New Roman" pitchFamily="18" charset="0"/>
                <a:cs typeface="Times New Roman" pitchFamily="18" charset="0"/>
              </a:rPr>
              <a:t>glPointSize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(float size);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l" rtl="0"/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Size must be greater than 0.0 and by default is 1.0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l" rtl="0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the width is 1.0, the square is 1 X 1 pixel</a:t>
            </a:r>
          </a:p>
          <a:p>
            <a:pPr algn="l" rtl="0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the width is 2.0, the square is 2 X 2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pixels</a:t>
            </a:r>
          </a:p>
          <a:p>
            <a:pPr algn="l" rtl="0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One vertex use to create one point.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l" rtl="0">
              <a:buNone/>
            </a:pPr>
            <a:endParaRPr lang="ar-SA" sz="2200" dirty="0">
              <a:latin typeface="Times New Roman" pitchFamily="18" charset="0"/>
              <a:cs typeface="Times New Roman" pitchFamily="18" charset="0"/>
            </a:endParaRPr>
          </a:p>
          <a:p>
            <a:pPr rtl="0"/>
            <a:endParaRPr lang="ar-SA" sz="22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ar-SA" sz="2200" dirty="0"/>
          </a:p>
        </p:txBody>
      </p:sp>
    </p:spTree>
    <p:extLst>
      <p:ext uri="{BB962C8B-B14F-4D97-AF65-F5344CB8AC3E}">
        <p14:creationId xmlns:p14="http://schemas.microsoft.com/office/powerpoint/2010/main" val="3882969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 smtClean="0"/>
          </a:p>
          <a:p>
            <a:pPr marL="0" indent="0" algn="ctr">
              <a:buNone/>
            </a:pPr>
            <a:endParaRPr lang="en-US" sz="6000" b="1" dirty="0"/>
          </a:p>
          <a:p>
            <a:pPr marL="0" indent="0" algn="ctr">
              <a:buNone/>
            </a:pPr>
            <a:endParaRPr lang="en-US" sz="60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066800" y="685800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Example</a:t>
            </a:r>
            <a:endParaRPr lang="ar-SA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133600"/>
            <a:ext cx="6093408" cy="3624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927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066800" y="685800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Activity</a:t>
            </a:r>
            <a:endParaRPr lang="ar-SA" dirty="0"/>
          </a:p>
        </p:txBody>
      </p:sp>
      <p:sp>
        <p:nvSpPr>
          <p:cNvPr id="5" name="Rectangle 4"/>
          <p:cNvSpPr/>
          <p:nvPr/>
        </p:nvSpPr>
        <p:spPr>
          <a:xfrm>
            <a:off x="2057400" y="2133600"/>
            <a:ext cx="4648200" cy="28575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95600" y="2590800"/>
            <a:ext cx="381000" cy="381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486400" y="2590800"/>
            <a:ext cx="381000" cy="381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486400" y="4267200"/>
            <a:ext cx="381000" cy="381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895600" y="4267200"/>
            <a:ext cx="381000" cy="381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191000" y="3429000"/>
            <a:ext cx="381000" cy="381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96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2768</TotalTime>
  <Words>406</Words>
  <Application>Microsoft Office PowerPoint</Application>
  <PresentationFormat>On-screen Show (4:3)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Franklin Gothic Book</vt:lpstr>
      <vt:lpstr>Perpetua</vt:lpstr>
      <vt:lpstr>Tahoma</vt:lpstr>
      <vt:lpstr>Times New Roman</vt:lpstr>
      <vt:lpstr>Wingdings 2</vt:lpstr>
      <vt:lpstr>Equity</vt:lpstr>
      <vt:lpstr>Introduction of JOGL and Point</vt:lpstr>
      <vt:lpstr>PowerPoint Presentation</vt:lpstr>
      <vt:lpstr>GLEventListener interface</vt:lpstr>
      <vt:lpstr>GLEventListener interface</vt:lpstr>
      <vt:lpstr>GLEventListener interface</vt:lpstr>
      <vt:lpstr>GLEventListener interface</vt:lpstr>
      <vt:lpstr>Canvas Value</vt:lpstr>
      <vt:lpstr>Color Details</vt:lpstr>
      <vt:lpstr>Color Details</vt:lpstr>
      <vt:lpstr>What is the Vertex?</vt:lpstr>
      <vt:lpstr>What is the Vertex?</vt:lpstr>
      <vt:lpstr>Points Details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Dear User!</dc:creator>
  <cp:lastModifiedBy>tara</cp:lastModifiedBy>
  <cp:revision>83</cp:revision>
  <dcterms:created xsi:type="dcterms:W3CDTF">2012-10-17T21:03:15Z</dcterms:created>
  <dcterms:modified xsi:type="dcterms:W3CDTF">2024-11-11T16:05:19Z</dcterms:modified>
</cp:coreProperties>
</file>