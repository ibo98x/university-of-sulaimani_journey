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780" r:id="rId1"/>
  </p:sldMasterIdLst>
  <p:notesMasterIdLst>
    <p:notesMasterId r:id="rId13"/>
  </p:notesMasterIdLst>
  <p:sldIdLst>
    <p:sldId id="276" r:id="rId2"/>
    <p:sldId id="292" r:id="rId3"/>
    <p:sldId id="293" r:id="rId4"/>
    <p:sldId id="294" r:id="rId5"/>
    <p:sldId id="295" r:id="rId6"/>
    <p:sldId id="296" r:id="rId7"/>
    <p:sldId id="297" r:id="rId8"/>
    <p:sldId id="298" r:id="rId9"/>
    <p:sldId id="299" r:id="rId10"/>
    <p:sldId id="300" r:id="rId11"/>
    <p:sldId id="301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380"/>
    <p:restoredTop sz="94660"/>
  </p:normalViewPr>
  <p:slideViewPr>
    <p:cSldViewPr>
      <p:cViewPr varScale="1">
        <p:scale>
          <a:sx n="82" d="100"/>
          <a:sy n="82" d="100"/>
        </p:scale>
        <p:origin x="147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D7FC98-959D-4F9A-85B3-8E6D5F89E331}" type="datetimeFigureOut">
              <a:rPr lang="en-US" smtClean="0"/>
              <a:pPr/>
              <a:t>11/17/2024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102B27-B519-472A-BEF8-95E1659D5C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627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FF690-5B44-41DE-837B-E49615ED5241}" type="datetimeFigureOut">
              <a:rPr lang="ar-SA" smtClean="0"/>
              <a:pPr/>
              <a:t>16/05/1446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7476E-109D-4892-B066-42DEBCF5D988}" type="slidenum">
              <a:rPr lang="ar-SA" smtClean="0"/>
              <a:pPr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582275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FF690-5B44-41DE-837B-E49615ED5241}" type="datetimeFigureOut">
              <a:rPr lang="ar-SA" smtClean="0"/>
              <a:pPr/>
              <a:t>16/05/1446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7476E-109D-4892-B066-42DEBCF5D988}" type="slidenum">
              <a:rPr lang="ar-SA" smtClean="0"/>
              <a:pPr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122191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FF690-5B44-41DE-837B-E49615ED5241}" type="datetimeFigureOut">
              <a:rPr lang="ar-SA" smtClean="0"/>
              <a:pPr/>
              <a:t>16/05/1446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7476E-109D-4892-B066-42DEBCF5D988}" type="slidenum">
              <a:rPr lang="ar-SA" smtClean="0"/>
              <a:pPr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200724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FF690-5B44-41DE-837B-E49615ED5241}" type="datetimeFigureOut">
              <a:rPr lang="ar-SA" smtClean="0"/>
              <a:pPr/>
              <a:t>16/05/1446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7476E-109D-4892-B066-42DEBCF5D988}" type="slidenum">
              <a:rPr lang="ar-SA" smtClean="0"/>
              <a:pPr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747881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FF690-5B44-41DE-837B-E49615ED5241}" type="datetimeFigureOut">
              <a:rPr lang="ar-SA" smtClean="0"/>
              <a:pPr/>
              <a:t>16/05/1446</a:t>
            </a:fld>
            <a:endParaRPr lang="ar-S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7476E-109D-4892-B066-42DEBCF5D988}" type="slidenum">
              <a:rPr lang="ar-SA" smtClean="0"/>
              <a:pPr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292353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FF690-5B44-41DE-837B-E49615ED5241}" type="datetimeFigureOut">
              <a:rPr lang="ar-SA" smtClean="0"/>
              <a:pPr/>
              <a:t>16/05/1446</a:t>
            </a:fld>
            <a:endParaRPr lang="ar-S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7476E-109D-4892-B066-42DEBCF5D988}" type="slidenum">
              <a:rPr lang="ar-SA" smtClean="0"/>
              <a:pPr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886089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FF690-5B44-41DE-837B-E49615ED5241}" type="datetimeFigureOut">
              <a:rPr lang="ar-SA" smtClean="0"/>
              <a:pPr/>
              <a:t>16/05/1446</a:t>
            </a:fld>
            <a:endParaRPr lang="ar-S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7476E-109D-4892-B066-42DEBCF5D988}" type="slidenum">
              <a:rPr lang="ar-SA" smtClean="0"/>
              <a:pPr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030487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FF690-5B44-41DE-837B-E49615ED5241}" type="datetimeFigureOut">
              <a:rPr lang="ar-SA" smtClean="0"/>
              <a:pPr/>
              <a:t>16/05/1446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7476E-109D-4892-B066-42DEBCF5D988}" type="slidenum">
              <a:rPr lang="ar-SA" smtClean="0"/>
              <a:pPr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718888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FF690-5B44-41DE-837B-E49615ED5241}" type="datetimeFigureOut">
              <a:rPr lang="ar-SA" smtClean="0"/>
              <a:pPr/>
              <a:t>16/05/1446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7476E-109D-4892-B066-42DEBCF5D988}" type="slidenum">
              <a:rPr lang="ar-SA" smtClean="0"/>
              <a:pPr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235986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FF690-5B44-41DE-837B-E49615ED5241}" type="datetimeFigureOut">
              <a:rPr lang="ar-SA" smtClean="0"/>
              <a:pPr/>
              <a:t>16/05/1446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7476E-109D-4892-B066-42DEBCF5D988}" type="slidenum">
              <a:rPr lang="ar-SA" smtClean="0"/>
              <a:pPr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287387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FF690-5B44-41DE-837B-E49615ED5241}" type="datetimeFigureOut">
              <a:rPr lang="ar-SA" smtClean="0"/>
              <a:pPr/>
              <a:t>16/05/1446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7476E-109D-4892-B066-42DEBCF5D988}" type="slidenum">
              <a:rPr lang="ar-SA" smtClean="0"/>
              <a:pPr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166213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4FF690-5B44-41DE-837B-E49615ED5241}" type="datetimeFigureOut">
              <a:rPr lang="ar-SA" smtClean="0"/>
              <a:pPr/>
              <a:t>16/05/1446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C7476E-109D-4892-B066-42DEBCF5D988}" type="slidenum">
              <a:rPr lang="ar-SA" smtClean="0"/>
              <a:pPr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033817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0"/>
            <a:ext cx="8839200" cy="2167465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 smtClean="0">
                <a:solidFill>
                  <a:schemeClr val="tx1"/>
                </a:solidFill>
              </a:rPr>
              <a:t>Point and line </a:t>
            </a:r>
            <a:endParaRPr lang="en-US" sz="4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7060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724936"/>
          </a:xfrm>
        </p:spPr>
        <p:txBody>
          <a:bodyPr>
            <a:normAutofit/>
          </a:bodyPr>
          <a:lstStyle/>
          <a:p>
            <a:r>
              <a:rPr lang="en-US" b="1" spc="50" dirty="0">
                <a:ln w="11430"/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What is a </a:t>
            </a:r>
            <a:r>
              <a:rPr lang="en-US" b="1" spc="50" dirty="0" smtClean="0">
                <a:ln w="11430"/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Line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153400" cy="3927629"/>
          </a:xfrm>
        </p:spPr>
        <p:txBody>
          <a:bodyPr/>
          <a:lstStyle/>
          <a:p>
            <a:r>
              <a:rPr lang="en-US" dirty="0"/>
              <a:t>A line connects two points. It is a basic element in graphics. </a:t>
            </a:r>
          </a:p>
          <a:p>
            <a:r>
              <a:rPr lang="en-US" dirty="0"/>
              <a:t>To draw a line, you need two points between which you can draw a line.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3886200"/>
            <a:ext cx="3314700" cy="2438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94797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pc="50" dirty="0" smtClean="0">
                <a:ln w="11430"/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Line Properties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b="1" dirty="0">
                <a:latin typeface="Times New Roman" pitchFamily="18" charset="0"/>
                <a:cs typeface="Times New Roman" pitchFamily="18" charset="0"/>
              </a:rPr>
              <a:t>Wide Lines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l" rtl="0"/>
            <a:r>
              <a:rPr lang="en-US" i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void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>
                <a:latin typeface="Times New Roman" pitchFamily="18" charset="0"/>
                <a:cs typeface="Times New Roman" pitchFamily="18" charset="0"/>
              </a:rPr>
              <a:t>glLineWidth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i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float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 width);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use to control the size of the line</a:t>
            </a:r>
          </a:p>
          <a:p>
            <a:pPr algn="l" rtl="0"/>
            <a:r>
              <a:rPr lang="en-US" dirty="0">
                <a:latin typeface="Times New Roman" pitchFamily="18" charset="0"/>
                <a:cs typeface="Times New Roman" pitchFamily="18" charset="0"/>
              </a:rPr>
              <a:t>Two vertex need to create one line (start point &amp; end point).</a:t>
            </a:r>
          </a:p>
          <a:p>
            <a:pPr algn="l" rtl="0"/>
            <a:r>
              <a:rPr lang="en-US" dirty="0">
                <a:latin typeface="Times New Roman" pitchFamily="18" charset="0"/>
                <a:cs typeface="Times New Roman" pitchFamily="18" charset="0"/>
              </a:rPr>
              <a:t>We bracket each set of vertices between a call to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glBegin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()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and a call to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glEnd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().</a:t>
            </a:r>
          </a:p>
        </p:txBody>
      </p:sp>
    </p:spTree>
    <p:extLst>
      <p:ext uri="{BB962C8B-B14F-4D97-AF65-F5344CB8AC3E}">
        <p14:creationId xmlns:p14="http://schemas.microsoft.com/office/powerpoint/2010/main" val="824589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pc="50" dirty="0" smtClean="0">
                <a:ln w="11430"/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Line Example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gl.glColor3f(0.0f,1.0f,0.0f</a:t>
            </a:r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algn="l" rtl="0"/>
            <a:r>
              <a:rPr lang="en-US" b="1" i="1" dirty="0" err="1" smtClean="0">
                <a:latin typeface="Times New Roman" pitchFamily="18" charset="0"/>
                <a:cs typeface="Times New Roman" pitchFamily="18" charset="0"/>
              </a:rPr>
              <a:t>gl.glLineWidth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(3.0f</a:t>
            </a:r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algn="l" rtl="0"/>
            <a:endParaRPr lang="en-US" b="1" i="1" dirty="0">
              <a:latin typeface="Times New Roman" pitchFamily="18" charset="0"/>
              <a:cs typeface="Times New Roman" pitchFamily="18" charset="0"/>
            </a:endParaRPr>
          </a:p>
          <a:p>
            <a:pPr algn="l" rtl="0"/>
            <a:r>
              <a:rPr lang="en-US" b="1" i="1" dirty="0" err="1">
                <a:latin typeface="Times New Roman" pitchFamily="18" charset="0"/>
                <a:cs typeface="Times New Roman" pitchFamily="18" charset="0"/>
              </a:rPr>
              <a:t>gl.glBegin</a:t>
            </a:r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(GL2.GL_LINES);</a:t>
            </a:r>
          </a:p>
          <a:p>
            <a:pPr algn="l" rtl="0"/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gl.glVertex2i</a:t>
            </a:r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(-100,-100);</a:t>
            </a:r>
          </a:p>
          <a:p>
            <a:pPr algn="l" rtl="0"/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gl.glVertex2i(100,100</a:t>
            </a:r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algn="l" rtl="0"/>
            <a:r>
              <a:rPr lang="en-US" b="1" i="1" dirty="0" err="1">
                <a:latin typeface="Times New Roman" pitchFamily="18" charset="0"/>
                <a:cs typeface="Times New Roman" pitchFamily="18" charset="0"/>
              </a:rPr>
              <a:t>gl.glEnd</a:t>
            </a:r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();</a:t>
            </a:r>
            <a:endParaRPr lang="en-US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3945035"/>
            <a:ext cx="2591411" cy="17699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>
            <a:off x="7086600" y="762000"/>
            <a:ext cx="0" cy="25908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 flipV="1">
            <a:off x="5486401" y="2057400"/>
            <a:ext cx="3428999" cy="4354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7162800" y="1981200"/>
            <a:ext cx="0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7239000" y="1981200"/>
            <a:ext cx="0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315200" y="1981200"/>
            <a:ext cx="0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7391400" y="1981200"/>
            <a:ext cx="0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7467600" y="1981200"/>
            <a:ext cx="0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543800" y="1981200"/>
            <a:ext cx="0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7620000" y="1981200"/>
            <a:ext cx="0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7696200" y="1981200"/>
            <a:ext cx="0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7772400" y="1981200"/>
            <a:ext cx="0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8305800" y="1981200"/>
            <a:ext cx="0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010400" y="1981200"/>
            <a:ext cx="0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6553200" y="1981200"/>
            <a:ext cx="0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6248400" y="1981200"/>
            <a:ext cx="0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6705600" y="1981200"/>
            <a:ext cx="0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6781800" y="1981200"/>
            <a:ext cx="0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6858000" y="1981200"/>
            <a:ext cx="0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6934200" y="1981200"/>
            <a:ext cx="0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6981009" y="2194560"/>
            <a:ext cx="228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7010400" y="2286000"/>
            <a:ext cx="228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7010400" y="2362200"/>
            <a:ext cx="228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7010400" y="2438400"/>
            <a:ext cx="228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7010400" y="2514600"/>
            <a:ext cx="228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7010400" y="2590800"/>
            <a:ext cx="228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7010400" y="2667000"/>
            <a:ext cx="228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7010400" y="3048000"/>
            <a:ext cx="228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010400" y="1905000"/>
            <a:ext cx="228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7010400" y="1828800"/>
            <a:ext cx="228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7010400" y="1752600"/>
            <a:ext cx="228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7010400" y="1676400"/>
            <a:ext cx="228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7010400" y="1219200"/>
            <a:ext cx="228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3" name="Oval 2052"/>
          <p:cNvSpPr/>
          <p:nvPr/>
        </p:nvSpPr>
        <p:spPr>
          <a:xfrm>
            <a:off x="8267700" y="1066800"/>
            <a:ext cx="1143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6019800" y="2743200"/>
            <a:ext cx="1143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55" name="Straight Connector 2054"/>
          <p:cNvCxnSpPr>
            <a:stCxn id="50" idx="2"/>
            <a:endCxn id="2053" idx="3"/>
          </p:cNvCxnSpPr>
          <p:nvPr/>
        </p:nvCxnSpPr>
        <p:spPr>
          <a:xfrm flipV="1">
            <a:off x="6019800" y="1196882"/>
            <a:ext cx="2264639" cy="16225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6" name="TextBox 2055"/>
          <p:cNvSpPr txBox="1"/>
          <p:nvPr/>
        </p:nvSpPr>
        <p:spPr>
          <a:xfrm>
            <a:off x="7857940" y="753291"/>
            <a:ext cx="81952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100,100</a:t>
            </a:r>
          </a:p>
          <a:p>
            <a:endParaRPr 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5487654" y="2862942"/>
            <a:ext cx="99905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-100,-100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1186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4391" y="685800"/>
            <a:ext cx="7024744" cy="1143000"/>
          </a:xfrm>
        </p:spPr>
        <p:txBody>
          <a:bodyPr/>
          <a:lstStyle/>
          <a:p>
            <a:r>
              <a:rPr lang="en-US" b="1" spc="50" dirty="0" smtClean="0">
                <a:ln w="11430"/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Class Activity (1)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1" y="2220742"/>
            <a:ext cx="5800724" cy="3589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25351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556" y="304800"/>
            <a:ext cx="7024744" cy="1143000"/>
          </a:xfrm>
        </p:spPr>
        <p:txBody>
          <a:bodyPr/>
          <a:lstStyle/>
          <a:p>
            <a:r>
              <a:rPr lang="en-US" b="1" spc="50" dirty="0" smtClean="0">
                <a:ln w="11430"/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Class Activity 2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93837"/>
            <a:ext cx="8229600" cy="4525963"/>
          </a:xfrm>
        </p:spPr>
        <p:txBody>
          <a:bodyPr/>
          <a:lstStyle/>
          <a:p>
            <a:pPr algn="l" rtl="0"/>
            <a:r>
              <a:rPr lang="en-US" dirty="0" smtClean="0"/>
              <a:t> 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933575"/>
            <a:ext cx="5638800" cy="3629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1828800" y="5715000"/>
            <a:ext cx="5638800" cy="381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By Using only Two Lines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5638800" y="1600200"/>
            <a:ext cx="220980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8001000" y="1752600"/>
            <a:ext cx="0" cy="22860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6755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spc="50" dirty="0" smtClean="0">
                <a:ln w="11430"/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Line Stipple</a:t>
            </a:r>
            <a:endParaRPr lang="en-US" b="1" spc="50" dirty="0">
              <a:ln w="11430"/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362200"/>
            <a:ext cx="5993431" cy="3276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38653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spc="50" dirty="0">
                <a:ln w="11430"/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Line </a:t>
            </a:r>
            <a:r>
              <a:rPr lang="en-US" b="1" spc="50" dirty="0" smtClean="0">
                <a:ln w="11430"/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Stipple(cont.)</a:t>
            </a:r>
            <a:endParaRPr lang="en-US" b="1" spc="50" dirty="0">
              <a:ln w="11430"/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rtl="0"/>
            <a:r>
              <a:rPr lang="en-US" dirty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glLineStipple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factor, </a:t>
            </a:r>
            <a:r>
              <a:rPr lang="en-US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short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pattern);</a:t>
            </a:r>
          </a:p>
          <a:p>
            <a:pPr algn="l" rtl="0"/>
            <a:r>
              <a:rPr lang="en-US" dirty="0">
                <a:latin typeface="Times New Roman" pitchFamily="18" charset="0"/>
                <a:cs typeface="Times New Roman" pitchFamily="18" charset="0"/>
              </a:rPr>
              <a:t>The pattern is a 16-bit series of 0s and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1s.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l" rtl="0"/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indicates that drawing occurs, and 0 that it does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not.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l" rtl="0"/>
            <a:r>
              <a:rPr lang="en-US" dirty="0">
                <a:latin typeface="Times New Roman" pitchFamily="18" charset="0"/>
                <a:cs typeface="Times New Roman" pitchFamily="18" charset="0"/>
              </a:rPr>
              <a:t>The pattern can be stretched out by using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factor.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l" rtl="0"/>
            <a:r>
              <a:rPr lang="en-US" dirty="0">
                <a:latin typeface="Times New Roman" pitchFamily="18" charset="0"/>
                <a:cs typeface="Times New Roman" pitchFamily="18" charset="0"/>
              </a:rPr>
              <a:t>factor is lie between 1 and 255</a:t>
            </a:r>
          </a:p>
          <a:p>
            <a:pPr algn="l" rtl="0"/>
            <a:r>
              <a:rPr lang="en-US" dirty="0">
                <a:latin typeface="Times New Roman" pitchFamily="18" charset="0"/>
                <a:cs typeface="Times New Roman" pitchFamily="18" charset="0"/>
              </a:rPr>
              <a:t>enabled by passing GL_LINE_STIPPLE to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glEnable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(), 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nd disabled by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glDisable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()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l" rtl="0"/>
            <a:r>
              <a:rPr lang="en-US" dirty="0">
                <a:latin typeface="Times New Roman" pitchFamily="18" charset="0"/>
                <a:cs typeface="Times New Roman" pitchFamily="18" charset="0"/>
              </a:rPr>
              <a:t>If the pattern 0x3F07 (0011111100000111 in binary), a line would be 3 pixels on, then 5 off, 6 on, and 2 off</a:t>
            </a:r>
          </a:p>
          <a:p>
            <a:pPr algn="l" rtl="0"/>
            <a:r>
              <a:rPr lang="en-US" dirty="0">
                <a:latin typeface="Times New Roman" pitchFamily="18" charset="0"/>
                <a:cs typeface="Times New Roman" pitchFamily="18" charset="0"/>
              </a:rPr>
              <a:t>If factor = 2, the pattern would have been: 6 pixels on, 10 off, 12 on, and 4 off</a:t>
            </a:r>
          </a:p>
          <a:p>
            <a:pPr marL="0" indent="0" algn="l" rtl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8292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762000"/>
            <a:ext cx="7024744" cy="1143000"/>
          </a:xfrm>
        </p:spPr>
        <p:txBody>
          <a:bodyPr>
            <a:normAutofit/>
          </a:bodyPr>
          <a:lstStyle/>
          <a:p>
            <a:r>
              <a:rPr lang="en-US" b="1" spc="50" dirty="0" smtClean="0">
                <a:ln w="11430"/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Line Stipple Ex.</a:t>
            </a:r>
            <a:endParaRPr lang="en-US" b="1" spc="50" dirty="0">
              <a:ln w="11430"/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209800"/>
            <a:ext cx="4878620" cy="335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7609" y="4191000"/>
            <a:ext cx="3670234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ounded Rectangular Callout 2"/>
          <p:cNvSpPr/>
          <p:nvPr/>
        </p:nvSpPr>
        <p:spPr>
          <a:xfrm>
            <a:off x="5486400" y="2819400"/>
            <a:ext cx="3352800" cy="609600"/>
          </a:xfrm>
          <a:prstGeom prst="wedgeRoundRectCallout">
            <a:avLst>
              <a:gd name="adj1" fmla="val -40183"/>
              <a:gd name="adj2" fmla="val 11392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1111 1111 0000 0000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3915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95023" y="1095659"/>
            <a:ext cx="6965245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en-US" b="1" spc="50" dirty="0" smtClean="0">
                <a:ln w="11430"/>
                <a:solidFill>
                  <a:srgbClr val="C00000"/>
                </a:solidFill>
              </a:rPr>
              <a:t>Class Activity 3</a:t>
            </a:r>
            <a:endParaRPr lang="ar-SA" b="1" spc="50" dirty="0">
              <a:ln w="11430"/>
              <a:solidFill>
                <a:srgbClr val="C00000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4513" y="2162175"/>
            <a:ext cx="5514975" cy="2533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ounded Rectangle 1"/>
          <p:cNvSpPr/>
          <p:nvPr/>
        </p:nvSpPr>
        <p:spPr>
          <a:xfrm>
            <a:off x="1600200" y="5029200"/>
            <a:ext cx="60198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Write a program to render the above output, if you know</a:t>
            </a:r>
          </a:p>
          <a:p>
            <a:pPr algn="ctr"/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Factor of first line = </a:t>
            </a:r>
            <a:r>
              <a:rPr lang="en-US" b="1" dirty="0">
                <a:solidFill>
                  <a:srgbClr val="0000FF"/>
                </a:solidFill>
              </a:rPr>
              <a:t>FF00 </a:t>
            </a:r>
          </a:p>
          <a:p>
            <a:pPr algn="ctr"/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Factor of second line = </a:t>
            </a:r>
            <a:r>
              <a:rPr lang="en-US" b="1" dirty="0" smtClean="0">
                <a:solidFill>
                  <a:srgbClr val="0000FF"/>
                </a:solidFill>
              </a:rPr>
              <a:t>DFFD </a:t>
            </a:r>
            <a:endParaRPr lang="en-US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8716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-76200"/>
            <a:ext cx="7772400" cy="1143000"/>
          </a:xfrm>
        </p:spPr>
        <p:txBody>
          <a:bodyPr>
            <a:normAutofit/>
          </a:bodyPr>
          <a:lstStyle/>
          <a:p>
            <a:r>
              <a:rPr lang="en-US" b="1" spc="50" dirty="0">
                <a:ln w="11430"/>
                <a:solidFill>
                  <a:srgbClr val="C00000"/>
                </a:solidFill>
              </a:rPr>
              <a:t>Home Work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58" t="6994" r="19548" b="15685"/>
          <a:stretch/>
        </p:blipFill>
        <p:spPr bwMode="auto">
          <a:xfrm>
            <a:off x="0" y="25400"/>
            <a:ext cx="9131300" cy="691636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/>
        </p:spPr>
      </p:pic>
    </p:spTree>
    <p:extLst>
      <p:ext uri="{BB962C8B-B14F-4D97-AF65-F5344CB8AC3E}">
        <p14:creationId xmlns:p14="http://schemas.microsoft.com/office/powerpoint/2010/main" val="1595833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2617</TotalTime>
  <Words>277</Words>
  <Application>Microsoft Office PowerPoint</Application>
  <PresentationFormat>On-screen Show (4:3)</PresentationFormat>
  <Paragraphs>40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Point and line </vt:lpstr>
      <vt:lpstr>What is a Line</vt:lpstr>
      <vt:lpstr>Line Properties</vt:lpstr>
      <vt:lpstr>Line Example</vt:lpstr>
      <vt:lpstr>Class Activity (1)</vt:lpstr>
      <vt:lpstr>Class Activity 2</vt:lpstr>
      <vt:lpstr>Line Stipple</vt:lpstr>
      <vt:lpstr>Line Stipple(cont.)</vt:lpstr>
      <vt:lpstr>Line Stipple Ex.</vt:lpstr>
      <vt:lpstr>Class Activity 3</vt:lpstr>
      <vt:lpstr>Home 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Dear User!</dc:creator>
  <cp:lastModifiedBy>tara</cp:lastModifiedBy>
  <cp:revision>90</cp:revision>
  <dcterms:created xsi:type="dcterms:W3CDTF">2012-10-17T21:03:15Z</dcterms:created>
  <dcterms:modified xsi:type="dcterms:W3CDTF">2024-11-17T18:12:36Z</dcterms:modified>
</cp:coreProperties>
</file>