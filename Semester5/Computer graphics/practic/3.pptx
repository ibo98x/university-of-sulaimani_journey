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sldIdLst>
    <p:sldId id="257" r:id="rId2"/>
    <p:sldId id="275" r:id="rId3"/>
    <p:sldId id="259" r:id="rId4"/>
    <p:sldId id="260" r:id="rId5"/>
    <p:sldId id="258" r:id="rId6"/>
    <p:sldId id="261" r:id="rId7"/>
    <p:sldId id="262" r:id="rId8"/>
    <p:sldId id="263" r:id="rId9"/>
    <p:sldId id="279" r:id="rId10"/>
    <p:sldId id="281" r:id="rId11"/>
    <p:sldId id="273" r:id="rId12"/>
    <p:sldId id="274" r:id="rId13"/>
    <p:sldId id="264" r:id="rId14"/>
    <p:sldId id="265" r:id="rId15"/>
    <p:sldId id="266" r:id="rId16"/>
    <p:sldId id="267" r:id="rId17"/>
    <p:sldId id="270" r:id="rId18"/>
    <p:sldId id="271" r:id="rId19"/>
    <p:sldId id="280" r:id="rId20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810" y="-3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7FC98-959D-4F9A-85B3-8E6D5F89E331}" type="datetimeFigureOut">
              <a:rPr lang="en-US" smtClean="0"/>
              <a:pPr/>
              <a:t>12/7/2023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02B27-B519-472A-BEF8-95E1659D5C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9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102B27-B519-472A-BEF8-95E1659D5C0D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D84FF690-5B44-41DE-837B-E49615ED5241}" type="datetimeFigureOut">
              <a:rPr lang="ar-SA" smtClean="0"/>
              <a:pPr/>
              <a:t>25/05/1445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25/05/1445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25/05/1445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25/05/1445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25/05/1445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25/05/1445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25/05/1445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D84FF690-5B44-41DE-837B-E49615ED5241}" type="datetimeFigureOut">
              <a:rPr lang="ar-SA" smtClean="0"/>
              <a:pPr/>
              <a:t>25/05/1445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D84FF690-5B44-41DE-837B-E49615ED5241}" type="datetimeFigureOut">
              <a:rPr lang="ar-SA" smtClean="0"/>
              <a:pPr/>
              <a:t>25/05/1445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25/05/1445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F690-5B44-41DE-837B-E49615ED5241}" type="datetimeFigureOut">
              <a:rPr lang="ar-SA" smtClean="0"/>
              <a:pPr/>
              <a:t>25/05/1445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D84FF690-5B44-41DE-837B-E49615ED5241}" type="datetimeFigureOut">
              <a:rPr lang="ar-SA" smtClean="0"/>
              <a:pPr/>
              <a:t>25/05/1445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41C7476E-109D-4892-B066-42DEBCF5D988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74320" indent="-27432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r" defTabSz="914400" rtl="1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1640" y="2420888"/>
            <a:ext cx="649118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6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Polygon Details</a:t>
            </a:r>
            <a:endParaRPr lang="ar-SA" sz="6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54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/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Rectangle</a:t>
            </a:r>
          </a:p>
          <a:p>
            <a:pPr algn="l" rtl="0"/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What </a:t>
            </a:r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is the Polygon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?</a:t>
            </a:r>
          </a:p>
          <a:p>
            <a:pPr algn="l" rtl="0"/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Polygon Properties</a:t>
            </a:r>
          </a:p>
          <a:p>
            <a:pPr algn="l" rtl="0"/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Geometric </a:t>
            </a:r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Drawing 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Primitives</a:t>
            </a:r>
          </a:p>
          <a:p>
            <a:pPr algn="l" rtl="0"/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Polygon face 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Mode</a:t>
            </a:r>
          </a:p>
          <a:p>
            <a:pPr algn="l" rtl="0"/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Discarding Boundary Edges</a:t>
            </a:r>
            <a:endParaRPr lang="en-US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algn="l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5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Rectangle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000" dirty="0" smtClean="0"/>
              <a:t>Rectangle is a polygon.</a:t>
            </a:r>
          </a:p>
          <a:p>
            <a:pPr algn="l" rtl="0"/>
            <a:r>
              <a:rPr lang="en-US" sz="2000" dirty="0" smtClean="0"/>
              <a:t>OpenGL provides a filled-rectangle drawing primitive, </a:t>
            </a:r>
            <a:r>
              <a:rPr lang="en-US" sz="2000" b="1" i="1" dirty="0" err="1" smtClean="0"/>
              <a:t>glRect</a:t>
            </a:r>
            <a:endParaRPr lang="en-US" sz="2000" b="1" i="1" dirty="0" smtClean="0"/>
          </a:p>
          <a:p>
            <a:pPr algn="l" rtl="0"/>
            <a:r>
              <a:rPr lang="en-US" sz="2000" dirty="0" smtClean="0"/>
              <a:t>We need 2 points to define one rectangle.</a:t>
            </a:r>
          </a:p>
          <a:p>
            <a:pPr algn="l" rtl="0"/>
            <a:r>
              <a:rPr lang="en-US" sz="2000" dirty="0" smtClean="0"/>
              <a:t>gl. </a:t>
            </a:r>
            <a:r>
              <a:rPr lang="en-US" sz="2000" dirty="0" err="1" smtClean="0"/>
              <a:t>glRect</a:t>
            </a:r>
            <a:r>
              <a:rPr lang="en-US" sz="2000" dirty="0" smtClean="0"/>
              <a:t>{</a:t>
            </a:r>
            <a:r>
              <a:rPr lang="en-US" sz="2000" dirty="0" err="1" smtClean="0"/>
              <a:t>sifd</a:t>
            </a:r>
            <a:r>
              <a:rPr lang="en-US" sz="2000" dirty="0" smtClean="0"/>
              <a:t>}( x1,  y1,  x2,  y2);</a:t>
            </a:r>
            <a:endParaRPr lang="ar-SA" sz="2000" dirty="0"/>
          </a:p>
        </p:txBody>
      </p:sp>
      <p:sp>
        <p:nvSpPr>
          <p:cNvPr id="5" name="Rectangle 4"/>
          <p:cNvSpPr/>
          <p:nvPr/>
        </p:nvSpPr>
        <p:spPr>
          <a:xfrm>
            <a:off x="3429000" y="4343400"/>
            <a:ext cx="22860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715000" y="40386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x1,y1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590800" y="53340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x2,y2</a:t>
            </a:r>
            <a:endParaRPr lang="en-US" dirty="0"/>
          </a:p>
        </p:txBody>
      </p:sp>
      <p:sp>
        <p:nvSpPr>
          <p:cNvPr id="8" name="Flowchart: Connector 7"/>
          <p:cNvSpPr/>
          <p:nvPr/>
        </p:nvSpPr>
        <p:spPr>
          <a:xfrm>
            <a:off x="5638800" y="4267200"/>
            <a:ext cx="152400" cy="1524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/>
          <p:cNvSpPr/>
          <p:nvPr/>
        </p:nvSpPr>
        <p:spPr>
          <a:xfrm>
            <a:off x="3352800" y="5334000"/>
            <a:ext cx="152400" cy="15240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0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Rectangle ex.</a:t>
            </a:r>
            <a:endParaRPr lang="ar-SA" dirty="0"/>
          </a:p>
        </p:txBody>
      </p:sp>
      <p:sp>
        <p:nvSpPr>
          <p:cNvPr id="7" name="TextBox 6"/>
          <p:cNvSpPr txBox="1"/>
          <p:nvPr/>
        </p:nvSpPr>
        <p:spPr>
          <a:xfrm>
            <a:off x="2667000" y="4953000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400425"/>
            <a:ext cx="3725765" cy="246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57450"/>
            <a:ext cx="5995486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56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rtl="0"/>
            <a:r>
              <a:rPr lang="en-US" sz="2000" dirty="0" smtClean="0"/>
              <a:t>a polygon is a plane figure specified by a set of three or more coordinate positions, called </a:t>
            </a:r>
            <a:r>
              <a:rPr lang="en-US" sz="2000" i="1" dirty="0" smtClean="0"/>
              <a:t>vertices, that are connected in sequence by </a:t>
            </a:r>
            <a:r>
              <a:rPr lang="en-US" sz="2000" dirty="0" smtClean="0"/>
              <a:t>straight-Line segments, called the </a:t>
            </a:r>
            <a:r>
              <a:rPr lang="en-US" sz="2000" i="1" dirty="0" smtClean="0"/>
              <a:t>edges or sides of the polygon.</a:t>
            </a:r>
            <a:endParaRPr lang="ar-SA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5023" y="1034104"/>
            <a:ext cx="696524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What is the 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Polygon?</a:t>
            </a:r>
            <a:endParaRPr lang="ar-SA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5" name="Flowchart: Process 4"/>
          <p:cNvSpPr/>
          <p:nvPr/>
        </p:nvSpPr>
        <p:spPr>
          <a:xfrm>
            <a:off x="1828800" y="4343400"/>
            <a:ext cx="1066800" cy="6096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decagon 6"/>
          <p:cNvSpPr/>
          <p:nvPr/>
        </p:nvSpPr>
        <p:spPr>
          <a:xfrm>
            <a:off x="3429000" y="4114800"/>
            <a:ext cx="990600" cy="838200"/>
          </a:xfrm>
          <a:prstGeom prst="dodec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4953000" y="4191000"/>
            <a:ext cx="914400" cy="762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/>
          <p:cNvSpPr/>
          <p:nvPr/>
        </p:nvSpPr>
        <p:spPr>
          <a:xfrm>
            <a:off x="6400800" y="4267200"/>
            <a:ext cx="1219200" cy="68580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Polygon Properties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polygon has two sides -front and back.</a:t>
            </a:r>
          </a:p>
          <a:p>
            <a:pPr algn="l" rt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 </a:t>
            </a:r>
            <a:r>
              <a:rPr lang="en-US" sz="2000" dirty="0" smtClean="0"/>
              <a:t>vertices of polygons appear in counterclockwise order called front-facing.</a:t>
            </a:r>
          </a:p>
          <a:p>
            <a:pPr algn="l" rt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Because OpenGL by default use </a:t>
            </a:r>
            <a:r>
              <a:rPr lang="en-US" sz="2000" dirty="0" smtClean="0"/>
              <a:t>counterclockwise then also we use counterclockwise to draw polygon.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bracket each set of vertices between a call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glBegin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a call to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glEnd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().</a:t>
            </a:r>
          </a:p>
          <a:p>
            <a:pPr algn="l" rtl="0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/>
            <a:endParaRPr lang="ar-SA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09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85" y="762000"/>
            <a:ext cx="6965245" cy="1202485"/>
          </a:xfrm>
        </p:spPr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Polygon Ex.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gl.glBegin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(GL2.GL_POLYGON);</a:t>
            </a:r>
          </a:p>
          <a:p>
            <a:pPr marL="0" indent="0" algn="l" rtl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gl.glVertex2i(-50,75);</a:t>
            </a:r>
          </a:p>
          <a:p>
            <a:pPr marL="0" indent="0" algn="l" rtl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gl.glVertex2i(-100,0);</a:t>
            </a:r>
          </a:p>
          <a:p>
            <a:pPr marL="0" indent="0" algn="l" rtl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gl.glVertex2i(-50,-75);</a:t>
            </a:r>
          </a:p>
          <a:p>
            <a:pPr marL="0" indent="0" algn="l" rtl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gl.glVertex2i(50,-75);</a:t>
            </a:r>
          </a:p>
          <a:p>
            <a:pPr marL="0" indent="0" algn="l" rtl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gl.glVertex2i(100,0);</a:t>
            </a:r>
          </a:p>
          <a:p>
            <a:pPr marL="0" indent="0" algn="l" rtl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   gl.glVertex2i(50,75);</a:t>
            </a:r>
          </a:p>
          <a:p>
            <a:pPr marL="0" indent="0" algn="l" rtl="0"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gl.glEnd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();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algn="l" rtl="0"/>
            <a:endParaRPr lang="ar-SA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2570114"/>
            <a:ext cx="2667000" cy="3068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092532" y="5650468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72100" y="305966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1_V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00600" y="3962400"/>
            <a:ext cx="93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2_V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10200" y="488846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3_V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05600" y="4888468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4_V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86600" y="3962400"/>
            <a:ext cx="933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5_V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17096" y="3037912"/>
            <a:ext cx="93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6_V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5562600" y="3429000"/>
            <a:ext cx="352425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578366" y="4343400"/>
            <a:ext cx="336659" cy="5138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477000" y="5090948"/>
            <a:ext cx="58775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7391400" y="4398744"/>
            <a:ext cx="306770" cy="478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7345746" y="3424324"/>
            <a:ext cx="352424" cy="5380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6324600" y="3200400"/>
            <a:ext cx="7000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01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Class Activity</a:t>
            </a:r>
            <a:endParaRPr lang="ar-S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143125"/>
            <a:ext cx="5534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209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Class Activity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86000"/>
            <a:ext cx="489585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695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Class Activity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33" t="19064" r="33767" b="32550"/>
          <a:stretch/>
        </p:blipFill>
        <p:spPr bwMode="auto">
          <a:xfrm>
            <a:off x="1524000" y="1981200"/>
            <a:ext cx="5956300" cy="4125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369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1011218"/>
          </a:xfrm>
        </p:spPr>
        <p:txBody>
          <a:bodyPr>
            <a:noAutofit/>
          </a:bodyPr>
          <a:lstStyle/>
          <a:p>
            <a:r>
              <a:rPr lang="en-US" sz="3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Geometric Drawing Primitives</a:t>
            </a:r>
          </a:p>
        </p:txBody>
      </p:sp>
      <p:pic>
        <p:nvPicPr>
          <p:cNvPr id="4" name="Content Placeholder 3" descr="Primitiv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1828800"/>
            <a:ext cx="5257800" cy="41147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782618"/>
          </a:xfrm>
        </p:spPr>
        <p:txBody>
          <a:bodyPr>
            <a:normAutofit/>
          </a:bodyPr>
          <a:lstStyle/>
          <a:p>
            <a:r>
              <a:rPr lang="en-US" sz="3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Geometric Drawing Primitives</a:t>
            </a:r>
            <a:endParaRPr lang="en-US" sz="3600" dirty="0"/>
          </a:p>
        </p:txBody>
      </p:sp>
      <p:pic>
        <p:nvPicPr>
          <p:cNvPr id="4" name="Content Placeholder 3" descr="Primitive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3675" y="1905000"/>
            <a:ext cx="6196013" cy="370720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Polygon face Mode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Each polygon shape contains of two faces, Front and Back.</a:t>
            </a:r>
          </a:p>
          <a:p>
            <a:pPr algn="l" rt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By default both of them are Fill</a:t>
            </a:r>
          </a:p>
          <a:p>
            <a:pPr algn="l" rt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PolygonMode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to control the polygon faces such as (Fill, Line or Point).</a:t>
            </a:r>
          </a:p>
          <a:p>
            <a:pPr algn="l" rtl="0"/>
            <a:endParaRPr lang="ar-SA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iamond 4"/>
          <p:cNvSpPr/>
          <p:nvPr/>
        </p:nvSpPr>
        <p:spPr>
          <a:xfrm>
            <a:off x="2057400" y="3962400"/>
            <a:ext cx="914400" cy="9906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/>
          <p:cNvSpPr/>
          <p:nvPr/>
        </p:nvSpPr>
        <p:spPr>
          <a:xfrm>
            <a:off x="4114800" y="3962400"/>
            <a:ext cx="914400" cy="990600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flipH="1">
            <a:off x="6629400" y="3886200"/>
            <a:ext cx="4571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981200" y="5224046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Fill Mode</a:t>
            </a:r>
            <a:endParaRPr lang="en-US" sz="1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68551" y="5257800"/>
            <a:ext cx="1136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Line Mode</a:t>
            </a:r>
            <a:endParaRPr lang="en-US" sz="1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02289" y="5257800"/>
            <a:ext cx="12057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Point Mode</a:t>
            </a:r>
            <a:endParaRPr lang="en-US" sz="1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 flipH="1">
            <a:off x="6202681" y="4373881"/>
            <a:ext cx="4571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flipH="1">
            <a:off x="7086600" y="4343400"/>
            <a:ext cx="4571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flipH="1">
            <a:off x="6659881" y="4800600"/>
            <a:ext cx="45719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5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Polygon face Mode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2133600"/>
            <a:ext cx="6196405" cy="3603812"/>
          </a:xfrm>
        </p:spPr>
        <p:txBody>
          <a:bodyPr>
            <a:normAutofit/>
          </a:bodyPr>
          <a:lstStyle/>
          <a:p>
            <a:pPr algn="l" rtl="0">
              <a:buNone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gl.glPolygonMode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(GL2.GL_FRONT,GL2.GL_FILL);</a:t>
            </a:r>
          </a:p>
          <a:p>
            <a:pPr algn="l" rtl="0">
              <a:buNone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gl.glPolygonMode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(GL2.GL_BACK,GL2.GL_LINE);</a:t>
            </a:r>
          </a:p>
          <a:p>
            <a:pPr algn="l" rtl="0">
              <a:buNone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gl.glPolygonMode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(GL2.GL_FRONT_AND_BACK, GL2.GL_POINT);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change the face of polygon form Front to Back or Back to Front we use </a:t>
            </a:r>
          </a:p>
          <a:p>
            <a:pPr algn="l" rtl="0">
              <a:buNone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gl.glFrontFace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(GL2.GL_CW);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ClockWise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l" rtl="0">
              <a:buNone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gl.glFrontFace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(GL2.GL_CCW);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 err="1" smtClean="0"/>
              <a:t>ounterClockWise</a:t>
            </a:r>
            <a:r>
              <a:rPr lang="en-US" sz="2000" dirty="0" smtClean="0"/>
              <a:t>)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>
              <a:buNone/>
            </a:pPr>
            <a:endParaRPr lang="ar-SA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/>
            <a:endParaRPr lang="ar-SA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5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Polygon face Mode Ex.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gl.glPolygonMode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(GL2.GL_FRONT,GL2.GL_FILL);</a:t>
            </a:r>
          </a:p>
          <a:p>
            <a:pPr marL="0" indent="0" algn="l" rtl="0">
              <a:buNone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gl.glPolygonMode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(GL2.GL_BACK,GL2.GL_LINE);</a:t>
            </a:r>
          </a:p>
          <a:p>
            <a:pPr marL="0" indent="0" algn="l" rtl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gl.glFrontFace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(GL2.GL_CW);</a:t>
            </a:r>
          </a:p>
          <a:p>
            <a:pPr marL="0" indent="0" algn="l" rtl="0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l" rtl="0">
              <a:buNone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gl.glBegin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(GL2.GL_POLYGON);</a:t>
            </a:r>
          </a:p>
          <a:p>
            <a:pPr marL="0" indent="0" algn="l" rtl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gl.glVertex2i(200,100);</a:t>
            </a:r>
          </a:p>
          <a:p>
            <a:pPr marL="0" indent="0" algn="l" rtl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gl.glVertex2i(-200,-50);</a:t>
            </a:r>
          </a:p>
          <a:p>
            <a:pPr marL="0" indent="0" algn="l" rtl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gl.glVertex2i(-200,-100);</a:t>
            </a:r>
          </a:p>
          <a:p>
            <a:pPr marL="0" indent="0" algn="l" rtl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  gl.glVertex2i(200,-100);</a:t>
            </a:r>
          </a:p>
          <a:p>
            <a:pPr marL="0" indent="0" algn="l" rtl="0">
              <a:buNone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gl.glEnd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();</a:t>
            </a:r>
            <a:endParaRPr lang="ar-SA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72937" y="5334000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015995"/>
            <a:ext cx="3472243" cy="2003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380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Class Activity</a:t>
            </a:r>
            <a:endParaRPr lang="ar-SA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2" y="2133600"/>
            <a:ext cx="559117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466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Discarding Boundary Edges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gl.glEdgeFlag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flag)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to discard the boundary edges of polygon, this method only use with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mode of polygon.</a:t>
            </a:r>
          </a:p>
          <a:p>
            <a:pPr algn="l" rtl="0"/>
            <a:r>
              <a:rPr lang="en-US" sz="2000" dirty="0" smtClean="0"/>
              <a:t>used between </a:t>
            </a:r>
            <a:r>
              <a:rPr lang="en-US" sz="2000" b="1" dirty="0" err="1" smtClean="0"/>
              <a:t>glBegin</a:t>
            </a:r>
            <a:r>
              <a:rPr lang="en-US" sz="2000" b="1" dirty="0" smtClean="0"/>
              <a:t>() </a:t>
            </a:r>
            <a:r>
              <a:rPr lang="en-US" sz="2000" dirty="0" smtClean="0"/>
              <a:t>and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glEnd</a:t>
            </a:r>
            <a:r>
              <a:rPr lang="en-US" sz="2000" b="1" dirty="0" smtClean="0"/>
              <a:t>() 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flag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 be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if flag is false then all edges after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glEdgeFlag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 command is discarded .</a:t>
            </a:r>
          </a:p>
          <a:p>
            <a:pPr algn="l" rt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we want to disable discarding edges we change the flag to true.</a:t>
            </a:r>
          </a:p>
          <a:p>
            <a:pPr algn="l" rtl="0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 </a:t>
            </a:r>
            <a:r>
              <a:rPr lang="en-US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EdgeFlag</a:t>
            </a:r>
            <a:r>
              <a:rPr lang="en-US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() Ex.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1905000"/>
            <a:ext cx="6196405" cy="3818069"/>
          </a:xfrm>
        </p:spPr>
        <p:txBody>
          <a:bodyPr>
            <a:noAutofit/>
          </a:bodyPr>
          <a:lstStyle/>
          <a:p>
            <a:pPr algn="l" rtl="0"/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gl.glPolygonMode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(GL2.GL_FRONT,GL2.GL_LINE);</a:t>
            </a:r>
          </a:p>
          <a:p>
            <a:pPr algn="l" rtl="0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gl.glPolygonMode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(GL2.GL_BACK,GL2.GL_FILL);</a:t>
            </a:r>
          </a:p>
          <a:p>
            <a:pPr algn="l" rtl="0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gl.glFrontFace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(GL2.GL_CCW);</a:t>
            </a:r>
          </a:p>
          <a:p>
            <a:pPr algn="l" rtl="0"/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 rtl="0"/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gl.glBegin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(GL2.GL_POLYGON);</a:t>
            </a:r>
          </a:p>
          <a:p>
            <a:pPr algn="l" rtl="0"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gl.glEdgeFlag</a:t>
            </a:r>
            <a:r>
              <a:rPr lang="en-US" sz="1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(false);</a:t>
            </a:r>
          </a:p>
          <a:p>
            <a:pPr algn="l" rtl="0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gl.glVertex2i(100,50);</a:t>
            </a:r>
          </a:p>
          <a:p>
            <a:pPr algn="l" rtl="0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gl.glEdgeFlag</a:t>
            </a:r>
            <a:r>
              <a:rPr lang="en-US" sz="1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(true);</a:t>
            </a:r>
          </a:p>
          <a:p>
            <a:pPr algn="l" rtl="0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gl.glVertex2i(-75,50);</a:t>
            </a:r>
          </a:p>
          <a:p>
            <a:pPr algn="l" rtl="0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gl.glEdgeFlag</a:t>
            </a:r>
            <a:r>
              <a:rPr lang="en-US" sz="1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(false);</a:t>
            </a:r>
          </a:p>
          <a:p>
            <a:pPr algn="l" rtl="0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gl.glVertex2i(-100,-50);</a:t>
            </a:r>
          </a:p>
          <a:p>
            <a:pPr algn="l" rtl="0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gl.glEdgeFlag</a:t>
            </a:r>
            <a:r>
              <a:rPr lang="en-US" sz="1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(true);</a:t>
            </a:r>
          </a:p>
          <a:p>
            <a:pPr algn="l" rtl="0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gl.glVertex2i(75,-50);</a:t>
            </a:r>
          </a:p>
          <a:p>
            <a:pPr algn="l" rtl="0"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gl.glEnd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();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46381"/>
            <a:ext cx="3352800" cy="224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706" y="533400"/>
            <a:ext cx="6965245" cy="1202485"/>
          </a:xfrm>
        </p:spPr>
        <p:txBody>
          <a:bodyPr/>
          <a:lstStyle/>
          <a:p>
            <a:r>
              <a:rPr lang="en-US" sz="5400" b="1" dirty="0" smtClean="0"/>
              <a:t>Homework</a:t>
            </a:r>
            <a:endParaRPr lang="en-US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3" t="10561" r="13122" b="12931"/>
          <a:stretch/>
        </p:blipFill>
        <p:spPr bwMode="auto">
          <a:xfrm>
            <a:off x="1676401" y="1422300"/>
            <a:ext cx="5791200" cy="432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676401" y="5732095"/>
            <a:ext cx="6324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dirty="0"/>
              <a:t>https://www.rapidtables.com/web/color/RGB_Color.html</a:t>
            </a:r>
          </a:p>
        </p:txBody>
      </p:sp>
    </p:spTree>
    <p:extLst>
      <p:ext uri="{BB962C8B-B14F-4D97-AF65-F5344CB8AC3E}">
        <p14:creationId xmlns:p14="http://schemas.microsoft.com/office/powerpoint/2010/main" val="258132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6310</TotalTime>
  <Words>462</Words>
  <Application>Microsoft Office PowerPoint</Application>
  <PresentationFormat>On-screen Show (4:3)</PresentationFormat>
  <Paragraphs>97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Pushpin</vt:lpstr>
      <vt:lpstr>PowerPoint Presentation</vt:lpstr>
      <vt:lpstr>OUTLINE</vt:lpstr>
      <vt:lpstr>Rectangle</vt:lpstr>
      <vt:lpstr>Rectangle ex.</vt:lpstr>
      <vt:lpstr>What is the Polygon?</vt:lpstr>
      <vt:lpstr>Polygon Properties</vt:lpstr>
      <vt:lpstr>Polygon Ex.</vt:lpstr>
      <vt:lpstr>Class Activity</vt:lpstr>
      <vt:lpstr>Class Activity</vt:lpstr>
      <vt:lpstr>Class Activity</vt:lpstr>
      <vt:lpstr>Geometric Drawing Primitives</vt:lpstr>
      <vt:lpstr>Geometric Drawing Primitives</vt:lpstr>
      <vt:lpstr>Polygon face Mode</vt:lpstr>
      <vt:lpstr>Polygon face Mode</vt:lpstr>
      <vt:lpstr>Polygon face Mode Ex.</vt:lpstr>
      <vt:lpstr>Class Activity</vt:lpstr>
      <vt:lpstr> Discarding Boundary Edges</vt:lpstr>
      <vt:lpstr> EdgeFlag() Ex.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Dear User!</dc:creator>
  <cp:lastModifiedBy>tara</cp:lastModifiedBy>
  <cp:revision>78</cp:revision>
  <dcterms:created xsi:type="dcterms:W3CDTF">2012-10-17T21:03:15Z</dcterms:created>
  <dcterms:modified xsi:type="dcterms:W3CDTF">2023-12-10T09:23:43Z</dcterms:modified>
</cp:coreProperties>
</file>