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0" r:id="rId6"/>
    <p:sldId id="273" r:id="rId7"/>
    <p:sldId id="272" r:id="rId8"/>
  </p:sldIdLst>
  <p:sldSz cx="18288000" cy="10287000"/>
  <p:notesSz cx="6858000" cy="9144000"/>
  <p:embeddedFontLst>
    <p:embeddedFont>
      <p:font typeface="Anton" pitchFamily="2" charset="0"/>
      <p:regular r:id="rId10"/>
    </p:embeddedFont>
    <p:embeddedFont>
      <p:font typeface="Arimo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4" name="Google Shape;17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614350" y="2454275"/>
            <a:ext cx="165570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491025" y="56245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12" name="Google Shape;12;p3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3" name="Google Shape;13;p3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3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3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3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3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9" name="Google Shape;29;p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3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41" name="Google Shape;41;p3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9692551" y="763817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>
            <a:spLocks noGrp="1"/>
          </p:cNvSpPr>
          <p:nvPr>
            <p:ph type="title"/>
          </p:nvPr>
        </p:nvSpPr>
        <p:spPr>
          <a:xfrm>
            <a:off x="655875" y="26379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 txBox="1">
            <a:spLocks noGrp="1"/>
          </p:cNvSpPr>
          <p:nvPr>
            <p:ph type="body" idx="1"/>
          </p:nvPr>
        </p:nvSpPr>
        <p:spPr>
          <a:xfrm>
            <a:off x="1981225" y="5942025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58" name="Google Shape;58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71" name="Google Shape;71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" name="Google Shape;85;p4"/>
          <p:cNvGrpSpPr/>
          <p:nvPr/>
        </p:nvGrpSpPr>
        <p:grpSpPr>
          <a:xfrm>
            <a:off x="503084" y="428766"/>
            <a:ext cx="5851052" cy="1310243"/>
            <a:chOff x="2" y="-564"/>
            <a:chExt cx="7801403" cy="1746991"/>
          </a:xfrm>
        </p:grpSpPr>
        <p:grpSp>
          <p:nvGrpSpPr>
            <p:cNvPr id="86" name="Google Shape;86;p4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87" name="Google Shape;87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4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99" name="Google Shape;99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4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02" name="Google Shape;102;p4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4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4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4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08" name="Google Shape;108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4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11" name="Google Shape;111;p4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4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14" name="Google Shape;114;p4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15" name="Google Shape;115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4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4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740850" y="1382675"/>
            <a:ext cx="168063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2579688" y="6597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5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130" name="Google Shape;130;p5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5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134" name="Google Shape;134;p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5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137" name="Google Shape;137;p5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5"/>
          <p:cNvSpPr/>
          <p:nvPr/>
        </p:nvSpPr>
        <p:spPr>
          <a:xfrm>
            <a:off x="16422857" y="6279622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1999778" y="8704662"/>
            <a:ext cx="5851052" cy="1310243"/>
            <a:chOff x="2" y="-564"/>
            <a:chExt cx="7801403" cy="1746991"/>
          </a:xfrm>
        </p:grpSpPr>
        <p:grpSp>
          <p:nvGrpSpPr>
            <p:cNvPr id="144" name="Google Shape;144;p5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5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169" name="Google Shape;169;p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671525" y="2586675"/>
            <a:ext cx="165951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6"/>
          <p:cNvSpPr txBox="1">
            <a:spLocks noGrp="1"/>
          </p:cNvSpPr>
          <p:nvPr>
            <p:ph type="body" idx="1"/>
          </p:nvPr>
        </p:nvSpPr>
        <p:spPr>
          <a:xfrm>
            <a:off x="3219425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2"/>
          </p:nvPr>
        </p:nvSpPr>
        <p:spPr>
          <a:xfrm>
            <a:off x="9075569" y="5529250"/>
            <a:ext cx="56433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grpSp>
        <p:nvGrpSpPr>
          <p:cNvPr id="175" name="Google Shape;175;p6"/>
          <p:cNvGrpSpPr/>
          <p:nvPr/>
        </p:nvGrpSpPr>
        <p:grpSpPr>
          <a:xfrm>
            <a:off x="417483" y="242355"/>
            <a:ext cx="5851052" cy="1310243"/>
            <a:chOff x="0" y="-241102"/>
            <a:chExt cx="7801402" cy="1746991"/>
          </a:xfrm>
        </p:grpSpPr>
        <p:grpSp>
          <p:nvGrpSpPr>
            <p:cNvPr id="176" name="Google Shape;176;p6"/>
            <p:cNvGrpSpPr/>
            <p:nvPr/>
          </p:nvGrpSpPr>
          <p:grpSpPr>
            <a:xfrm>
              <a:off x="0" y="-241102"/>
              <a:ext cx="2173362" cy="520931"/>
              <a:chOff x="0" y="-47625"/>
              <a:chExt cx="429306" cy="10290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2571714" y="-241102"/>
              <a:ext cx="2173362" cy="520931"/>
              <a:chOff x="0" y="-47625"/>
              <a:chExt cx="429306" cy="102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6"/>
            <p:cNvGrpSpPr/>
            <p:nvPr/>
          </p:nvGrpSpPr>
          <p:grpSpPr>
            <a:xfrm>
              <a:off x="1345333" y="575061"/>
              <a:ext cx="2173362" cy="520931"/>
              <a:chOff x="0" y="-47625"/>
              <a:chExt cx="429306" cy="102900"/>
            </a:xfrm>
          </p:grpSpPr>
          <p:sp>
            <p:nvSpPr>
              <p:cNvPr id="183" name="Google Shape;183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6"/>
            <p:cNvGrpSpPr/>
            <p:nvPr/>
          </p:nvGrpSpPr>
          <p:grpSpPr>
            <a:xfrm>
              <a:off x="3658396" y="563639"/>
              <a:ext cx="2173362" cy="520931"/>
              <a:chOff x="0" y="-47625"/>
              <a:chExt cx="429306" cy="102900"/>
            </a:xfrm>
          </p:grpSpPr>
          <p:sp>
            <p:nvSpPr>
              <p:cNvPr id="186" name="Google Shape;186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5314643" y="-241102"/>
              <a:ext cx="1191034" cy="520931"/>
              <a:chOff x="0" y="-47625"/>
              <a:chExt cx="235266" cy="1029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6610368" y="563639"/>
              <a:ext cx="1191034" cy="520931"/>
              <a:chOff x="0" y="-47625"/>
              <a:chExt cx="235266" cy="1029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6"/>
            <p:cNvGrpSpPr/>
            <p:nvPr/>
          </p:nvGrpSpPr>
          <p:grpSpPr>
            <a:xfrm>
              <a:off x="0" y="586483"/>
              <a:ext cx="1202850" cy="498150"/>
              <a:chOff x="0" y="-47625"/>
              <a:chExt cx="237600" cy="9840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7" name="Google Shape;197;p6"/>
            <p:cNvGrpSpPr/>
            <p:nvPr/>
          </p:nvGrpSpPr>
          <p:grpSpPr>
            <a:xfrm>
              <a:off x="0" y="165164"/>
              <a:ext cx="4377448" cy="520931"/>
              <a:chOff x="0" y="-47625"/>
              <a:chExt cx="864681" cy="102900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p6"/>
            <p:cNvGrpSpPr/>
            <p:nvPr/>
          </p:nvGrpSpPr>
          <p:grpSpPr>
            <a:xfrm>
              <a:off x="0" y="984958"/>
              <a:ext cx="4377448" cy="520931"/>
              <a:chOff x="0" y="-47625"/>
              <a:chExt cx="864681" cy="102900"/>
            </a:xfrm>
          </p:grpSpPr>
          <p:sp>
            <p:nvSpPr>
              <p:cNvPr id="201" name="Google Shape;201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" name="Google Shape;203;p6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04" name="Google Shape;204;p6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6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08" name="Google Shape;208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6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11" name="Google Shape;211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6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6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6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6"/>
          <p:cNvSpPr/>
          <p:nvPr/>
        </p:nvSpPr>
        <p:spPr>
          <a:xfrm>
            <a:off x="14123600" y="476375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33" name="Google Shape;233;p6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6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6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>
            <a:spLocks noGrp="1"/>
          </p:cNvSpPr>
          <p:nvPr>
            <p:ph type="title"/>
          </p:nvPr>
        </p:nvSpPr>
        <p:spPr>
          <a:xfrm>
            <a:off x="576300" y="2672488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7"/>
          <p:cNvSpPr txBox="1">
            <a:spLocks noGrp="1"/>
          </p:cNvSpPr>
          <p:nvPr>
            <p:ph type="body" idx="1"/>
          </p:nvPr>
        </p:nvSpPr>
        <p:spPr>
          <a:xfrm>
            <a:off x="1528775" y="5556275"/>
            <a:ext cx="5014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body" idx="2"/>
          </p:nvPr>
        </p:nvSpPr>
        <p:spPr>
          <a:xfrm>
            <a:off x="6726129" y="5556275"/>
            <a:ext cx="50160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50" name="Google Shape;250;p7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7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260" name="Google Shape;260;p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7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7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7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269" name="Google Shape;269;p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7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7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272" name="Google Shape;272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7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275" name="Google Shape;275;p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7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" name="Google Shape;277;p7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278" name="Google Shape;278;p7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7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7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0" name="Google Shape;290;p7"/>
          <p:cNvSpPr/>
          <p:nvPr/>
        </p:nvSpPr>
        <p:spPr>
          <a:xfrm>
            <a:off x="15378768" y="4930826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>
            <a:spLocks noGrp="1"/>
          </p:cNvSpPr>
          <p:nvPr>
            <p:ph type="title"/>
          </p:nvPr>
        </p:nvSpPr>
        <p:spPr>
          <a:xfrm>
            <a:off x="751125" y="2798775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3" name="Google Shape;293;p8"/>
          <p:cNvGrpSpPr/>
          <p:nvPr/>
        </p:nvGrpSpPr>
        <p:grpSpPr>
          <a:xfrm>
            <a:off x="11999778" y="8693380"/>
            <a:ext cx="5851052" cy="1310243"/>
            <a:chOff x="2" y="-564"/>
            <a:chExt cx="7801403" cy="1746991"/>
          </a:xfrm>
        </p:grpSpPr>
        <p:grpSp>
          <p:nvGrpSpPr>
            <p:cNvPr id="294" name="Google Shape;294;p8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295" name="Google Shape;295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8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298" name="Google Shape;298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8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01" name="Google Shape;301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" name="Google Shape;303;p8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04" name="Google Shape;304;p8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8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8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" name="Google Shape;309;p8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10" name="Google Shape;310;p8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8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2" name="Google Shape;312;p8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13" name="Google Shape;313;p8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8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8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8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" name="Google Shape;321;p8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22" name="Google Shape;322;p8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8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8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29" name="Google Shape;329;p8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8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32" name="Google Shape;332;p8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4" name="Google Shape;334;p8"/>
          <p:cNvSpPr/>
          <p:nvPr/>
        </p:nvSpPr>
        <p:spPr>
          <a:xfrm>
            <a:off x="15378768" y="4930826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>
            <a:spLocks noGrp="1"/>
          </p:cNvSpPr>
          <p:nvPr>
            <p:ph type="title"/>
          </p:nvPr>
        </p:nvSpPr>
        <p:spPr>
          <a:xfrm>
            <a:off x="742950" y="4058913"/>
            <a:ext cx="164046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37" name="Google Shape;337;p9"/>
          <p:cNvSpPr txBox="1">
            <a:spLocks noGrp="1"/>
          </p:cNvSpPr>
          <p:nvPr>
            <p:ph type="body" idx="1"/>
          </p:nvPr>
        </p:nvSpPr>
        <p:spPr>
          <a:xfrm>
            <a:off x="5336650" y="5817575"/>
            <a:ext cx="7453200" cy="30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9"/>
          <p:cNvSpPr txBox="1">
            <a:spLocks noGrp="1"/>
          </p:cNvSpPr>
          <p:nvPr>
            <p:ph type="body" idx="2"/>
          </p:nvPr>
        </p:nvSpPr>
        <p:spPr>
          <a:xfrm>
            <a:off x="742950" y="5817580"/>
            <a:ext cx="4386600" cy="3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>
            <a:endParaRPr/>
          </a:p>
        </p:txBody>
      </p:sp>
      <p:grpSp>
        <p:nvGrpSpPr>
          <p:cNvPr id="339" name="Google Shape;339;p9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40" name="Google Shape;340;p9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9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44" name="Google Shape;344;p9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9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9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50" name="Google Shape;350;p9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9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2" name="Google Shape;352;p9"/>
          <p:cNvSpPr/>
          <p:nvPr/>
        </p:nvSpPr>
        <p:spPr>
          <a:xfrm>
            <a:off x="14580281" y="4222181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3" name="Google Shape;353;p9"/>
          <p:cNvGrpSpPr/>
          <p:nvPr/>
        </p:nvGrpSpPr>
        <p:grpSpPr>
          <a:xfrm>
            <a:off x="12072976" y="8575885"/>
            <a:ext cx="5851052" cy="1310243"/>
            <a:chOff x="2" y="-564"/>
            <a:chExt cx="7801403" cy="1746991"/>
          </a:xfrm>
        </p:grpSpPr>
        <p:grpSp>
          <p:nvGrpSpPr>
            <p:cNvPr id="354" name="Google Shape;354;p9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0" name="Google Shape;360;p9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361" name="Google Shape;361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9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364" name="Google Shape;364;p9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9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9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367" name="Google Shape;367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9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9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9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373" name="Google Shape;373;p9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9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9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376" name="Google Shape;376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9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379" name="Google Shape;379;p9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>
            <a:spLocks noGrp="1"/>
          </p:cNvSpPr>
          <p:nvPr>
            <p:ph type="title"/>
          </p:nvPr>
        </p:nvSpPr>
        <p:spPr>
          <a:xfrm>
            <a:off x="1002575" y="4737700"/>
            <a:ext cx="16871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500"/>
              <a:buFont typeface="Anton"/>
              <a:buNone/>
              <a:defRPr sz="125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383" name="Google Shape;383;p10"/>
          <p:cNvSpPr>
            <a:spLocks noGrp="1"/>
          </p:cNvSpPr>
          <p:nvPr>
            <p:ph type="pic" idx="2"/>
          </p:nvPr>
        </p:nvSpPr>
        <p:spPr>
          <a:xfrm>
            <a:off x="1125547" y="5629275"/>
            <a:ext cx="4245000" cy="31839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10"/>
          <p:cNvSpPr txBox="1">
            <a:spLocks noGrp="1"/>
          </p:cNvSpPr>
          <p:nvPr>
            <p:ph type="body" idx="1"/>
          </p:nvPr>
        </p:nvSpPr>
        <p:spPr>
          <a:xfrm>
            <a:off x="6159513" y="6081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14398941" y="5079095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6" name="Google Shape;386;p10"/>
          <p:cNvGrpSpPr/>
          <p:nvPr/>
        </p:nvGrpSpPr>
        <p:grpSpPr>
          <a:xfrm rot="2821244">
            <a:off x="16959832" y="165852"/>
            <a:ext cx="1057608" cy="1194515"/>
            <a:chOff x="-95789" y="-89371"/>
            <a:chExt cx="1410145" cy="1592687"/>
          </a:xfrm>
        </p:grpSpPr>
        <p:grpSp>
          <p:nvGrpSpPr>
            <p:cNvPr id="387" name="Google Shape;387;p10"/>
            <p:cNvGrpSpPr/>
            <p:nvPr/>
          </p:nvGrpSpPr>
          <p:grpSpPr>
            <a:xfrm rot="-2821068">
              <a:off x="134816" y="282908"/>
              <a:ext cx="943563" cy="1040889"/>
              <a:chOff x="0" y="-47625"/>
              <a:chExt cx="343200" cy="378600"/>
            </a:xfrm>
          </p:grpSpPr>
          <p:sp>
            <p:nvSpPr>
              <p:cNvPr id="388" name="Google Shape;388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10"/>
            <p:cNvGrpSpPr/>
            <p:nvPr/>
          </p:nvGrpSpPr>
          <p:grpSpPr>
            <a:xfrm rot="-2821068">
              <a:off x="140189" y="90147"/>
              <a:ext cx="943563" cy="1040889"/>
              <a:chOff x="0" y="-47625"/>
              <a:chExt cx="343200" cy="378600"/>
            </a:xfrm>
          </p:grpSpPr>
          <p:sp>
            <p:nvSpPr>
              <p:cNvPr id="391" name="Google Shape;391;p10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0"/>
              <p:cNvSpPr txBox="1"/>
              <p:nvPr/>
            </p:nvSpPr>
            <p:spPr>
              <a:xfrm>
                <a:off x="0" y="-47625"/>
                <a:ext cx="343200" cy="37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10"/>
            <p:cNvGrpSpPr/>
            <p:nvPr/>
          </p:nvGrpSpPr>
          <p:grpSpPr>
            <a:xfrm>
              <a:off x="625032" y="253444"/>
              <a:ext cx="69946" cy="699550"/>
              <a:chOff x="0" y="-47625"/>
              <a:chExt cx="31856" cy="318600"/>
            </a:xfrm>
          </p:grpSpPr>
          <p:sp>
            <p:nvSpPr>
              <p:cNvPr id="394" name="Google Shape;394;p10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0"/>
              <p:cNvSpPr txBox="1"/>
              <p:nvPr/>
            </p:nvSpPr>
            <p:spPr>
              <a:xfrm>
                <a:off x="0" y="-47625"/>
                <a:ext cx="318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10"/>
            <p:cNvGrpSpPr/>
            <p:nvPr/>
          </p:nvGrpSpPr>
          <p:grpSpPr>
            <a:xfrm rot="5400000">
              <a:off x="675978" y="305678"/>
              <a:ext cx="72520" cy="699550"/>
              <a:chOff x="0" y="-47625"/>
              <a:chExt cx="33028" cy="318600"/>
            </a:xfrm>
          </p:grpSpPr>
          <p:sp>
            <p:nvSpPr>
              <p:cNvPr id="397" name="Google Shape;397;p10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0"/>
              <p:cNvSpPr txBox="1"/>
              <p:nvPr/>
            </p:nvSpPr>
            <p:spPr>
              <a:xfrm>
                <a:off x="0" y="-47625"/>
                <a:ext cx="33000" cy="31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9" name="Google Shape;399;p10"/>
          <p:cNvGrpSpPr/>
          <p:nvPr/>
        </p:nvGrpSpPr>
        <p:grpSpPr>
          <a:xfrm rot="10800000">
            <a:off x="8547898" y="480862"/>
            <a:ext cx="5851052" cy="1310243"/>
            <a:chOff x="2" y="-564"/>
            <a:chExt cx="7801403" cy="1746991"/>
          </a:xfrm>
        </p:grpSpPr>
        <p:grpSp>
          <p:nvGrpSpPr>
            <p:cNvPr id="400" name="Google Shape;400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01" name="Google Shape;401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04" name="Google Shape;404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07" name="Google Shape;407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10" name="Google Shape;410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" name="Google Shape;412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13" name="Google Shape;413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16" name="Google Shape;416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19" name="Google Shape;419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25" name="Google Shape;425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0"/>
          <p:cNvGrpSpPr/>
          <p:nvPr/>
        </p:nvGrpSpPr>
        <p:grpSpPr>
          <a:xfrm rot="10800000">
            <a:off x="12023215" y="8251029"/>
            <a:ext cx="5851052" cy="1310243"/>
            <a:chOff x="2" y="-564"/>
            <a:chExt cx="7801403" cy="1746991"/>
          </a:xfrm>
        </p:grpSpPr>
        <p:grpSp>
          <p:nvGrpSpPr>
            <p:cNvPr id="428" name="Google Shape;428;p10"/>
            <p:cNvGrpSpPr/>
            <p:nvPr/>
          </p:nvGrpSpPr>
          <p:grpSpPr>
            <a:xfrm rot="10800000">
              <a:off x="5628043" y="1225496"/>
              <a:ext cx="2173362" cy="520931"/>
              <a:chOff x="0" y="-47625"/>
              <a:chExt cx="429306" cy="102900"/>
            </a:xfrm>
          </p:grpSpPr>
          <p:sp>
            <p:nvSpPr>
              <p:cNvPr id="429" name="Google Shape;429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0"/>
            <p:cNvGrpSpPr/>
            <p:nvPr/>
          </p:nvGrpSpPr>
          <p:grpSpPr>
            <a:xfrm rot="10800000">
              <a:off x="3056329" y="1225496"/>
              <a:ext cx="2173362" cy="520931"/>
              <a:chOff x="0" y="-47625"/>
              <a:chExt cx="429306" cy="102900"/>
            </a:xfrm>
          </p:grpSpPr>
          <p:sp>
            <p:nvSpPr>
              <p:cNvPr id="432" name="Google Shape;432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0"/>
            <p:cNvGrpSpPr/>
            <p:nvPr/>
          </p:nvGrpSpPr>
          <p:grpSpPr>
            <a:xfrm rot="10800000">
              <a:off x="4282710" y="409333"/>
              <a:ext cx="2173362" cy="520931"/>
              <a:chOff x="0" y="-47625"/>
              <a:chExt cx="429306" cy="102900"/>
            </a:xfrm>
          </p:grpSpPr>
          <p:sp>
            <p:nvSpPr>
              <p:cNvPr id="435" name="Google Shape;435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0"/>
            <p:cNvGrpSpPr/>
            <p:nvPr/>
          </p:nvGrpSpPr>
          <p:grpSpPr>
            <a:xfrm rot="10800000">
              <a:off x="1969648" y="420756"/>
              <a:ext cx="2173362" cy="520931"/>
              <a:chOff x="0" y="-47625"/>
              <a:chExt cx="429306" cy="102900"/>
            </a:xfrm>
          </p:grpSpPr>
          <p:sp>
            <p:nvSpPr>
              <p:cNvPr id="438" name="Google Shape;438;p10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0"/>
              <p:cNvSpPr txBox="1"/>
              <p:nvPr/>
            </p:nvSpPr>
            <p:spPr>
              <a:xfrm>
                <a:off x="0" y="-47625"/>
                <a:ext cx="4293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0" name="Google Shape;440;p10"/>
            <p:cNvGrpSpPr/>
            <p:nvPr/>
          </p:nvGrpSpPr>
          <p:grpSpPr>
            <a:xfrm rot="10800000">
              <a:off x="1295727" y="1225496"/>
              <a:ext cx="1191034" cy="520931"/>
              <a:chOff x="0" y="-47625"/>
              <a:chExt cx="235266" cy="102900"/>
            </a:xfrm>
          </p:grpSpPr>
          <p:sp>
            <p:nvSpPr>
              <p:cNvPr id="441" name="Google Shape;441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10"/>
            <p:cNvGrpSpPr/>
            <p:nvPr/>
          </p:nvGrpSpPr>
          <p:grpSpPr>
            <a:xfrm rot="10800000">
              <a:off x="2" y="420756"/>
              <a:ext cx="1191034" cy="520931"/>
              <a:chOff x="0" y="-47625"/>
              <a:chExt cx="235266" cy="102900"/>
            </a:xfrm>
          </p:grpSpPr>
          <p:sp>
            <p:nvSpPr>
              <p:cNvPr id="444" name="Google Shape;444;p10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 txBox="1"/>
              <p:nvPr/>
            </p:nvSpPr>
            <p:spPr>
              <a:xfrm>
                <a:off x="0" y="-47625"/>
                <a:ext cx="2352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10"/>
            <p:cNvGrpSpPr/>
            <p:nvPr/>
          </p:nvGrpSpPr>
          <p:grpSpPr>
            <a:xfrm rot="10800000">
              <a:off x="6598555" y="420693"/>
              <a:ext cx="1202850" cy="498150"/>
              <a:chOff x="0" y="-47625"/>
              <a:chExt cx="237600" cy="984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0" y="-47625"/>
                <a:ext cx="237600" cy="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 rot="10800000">
              <a:off x="3423956" y="819231"/>
              <a:ext cx="4377448" cy="520931"/>
              <a:chOff x="0" y="-47625"/>
              <a:chExt cx="864681" cy="1029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 rot="10800000">
              <a:off x="3423956" y="-564"/>
              <a:ext cx="4377448" cy="520931"/>
              <a:chOff x="0" y="-47625"/>
              <a:chExt cx="864681" cy="1029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0" y="-47625"/>
                <a:ext cx="864600" cy="10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9150" y="1893900"/>
            <a:ext cx="1650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393A3F"/>
              </a:buClr>
              <a:buSzPts val="12500"/>
              <a:buFont typeface="Anton"/>
              <a:buNone/>
              <a:defRPr sz="12500" i="0" u="none" strike="noStrike" cap="non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72100" y="5060950"/>
            <a:ext cx="69273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38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marR="0" lvl="1" indent="-3238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238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–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»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238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nton"/>
              <a:buChar char="•"/>
              <a:defRPr sz="15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urdue.edu/newsroom/2023/Q3/chatgpt-outperforms-stack-overflow-in-coding-answers-study-finds/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s://www.similarweb.com/corp/ourdata/" TargetMode="External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s://stackoverflow.com/questions" TargetMode="External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11"/>
          <p:cNvGrpSpPr/>
          <p:nvPr/>
        </p:nvGrpSpPr>
        <p:grpSpPr>
          <a:xfrm>
            <a:off x="641008" y="6261558"/>
            <a:ext cx="3762457" cy="3783085"/>
            <a:chOff x="0" y="-47625"/>
            <a:chExt cx="1719710" cy="378511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1"/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641008" y="6085490"/>
            <a:ext cx="3782144" cy="3783085"/>
            <a:chOff x="0" y="-47625"/>
            <a:chExt cx="1719710" cy="378511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1"/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11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466" name="Google Shape;466;p11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467" name="Google Shape;467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9" name="Google Shape;469;p11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470" name="Google Shape;470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" name="Google Shape;472;p11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473" name="Google Shape;473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11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476" name="Google Shape;476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482" name="Google Shape;482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485" name="Google Shape;485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" name="Google Shape;490;p11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491" name="Google Shape;491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3" name="Google Shape;493;p11"/>
          <p:cNvGrpSpPr/>
          <p:nvPr/>
        </p:nvGrpSpPr>
        <p:grpSpPr>
          <a:xfrm>
            <a:off x="11999777" y="8693803"/>
            <a:ext cx="5851054" cy="1309820"/>
            <a:chOff x="0" y="0"/>
            <a:chExt cx="7801405" cy="1746426"/>
          </a:xfrm>
        </p:grpSpPr>
        <p:grpSp>
          <p:nvGrpSpPr>
            <p:cNvPr id="494" name="Google Shape;494;p11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495" name="Google Shape;495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11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498" name="Google Shape;498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11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501" name="Google Shape;501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11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504" name="Google Shape;504;p11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1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11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507" name="Google Shape;507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11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510" name="Google Shape;510;p11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1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11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513" name="Google Shape;513;p11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1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5" name="Google Shape;515;p11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516" name="Google Shape;516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8" name="Google Shape;518;p11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519" name="Google Shape;519;p11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1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1" name="Google Shape;521;p11"/>
          <p:cNvSpPr/>
          <p:nvPr/>
        </p:nvSpPr>
        <p:spPr>
          <a:xfrm>
            <a:off x="8901991" y="5927943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22" name="Google Shape;522;p11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523" name="Google Shape;523;p11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524" name="Google Shape;524;p11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11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6" name="Google Shape;526;p11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527" name="Google Shape;527;p11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1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11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530" name="Google Shape;530;p11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1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11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533" name="Google Shape;533;p11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1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5" name="Google Shape;535;p11"/>
          <p:cNvSpPr txBox="1"/>
          <p:nvPr/>
        </p:nvSpPr>
        <p:spPr>
          <a:xfrm>
            <a:off x="641008" y="2599277"/>
            <a:ext cx="8893500" cy="320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0" dirty="0">
                <a:solidFill>
                  <a:srgbClr val="393A3F"/>
                </a:solidFill>
                <a:latin typeface="Anton"/>
                <a:sym typeface="Anton"/>
              </a:rPr>
              <a:t>How ChatGPT is Killing Q&amp;A Sites</a:t>
            </a:r>
            <a:endParaRPr lang="en-US" dirty="0"/>
          </a:p>
        </p:txBody>
      </p:sp>
      <p:sp>
        <p:nvSpPr>
          <p:cNvPr id="536" name="Google Shape;536;p11"/>
          <p:cNvSpPr txBox="1"/>
          <p:nvPr/>
        </p:nvSpPr>
        <p:spPr>
          <a:xfrm>
            <a:off x="856020" y="6786130"/>
            <a:ext cx="4242656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Created by: </a:t>
            </a:r>
          </a:p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nton"/>
                <a:sym typeface="Anton"/>
              </a:rPr>
              <a:t>Ibrahim Qahtan</a:t>
            </a:r>
          </a:p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nton"/>
                <a:sym typeface="Anton"/>
              </a:rPr>
              <a:t>Mustafa Musab</a:t>
            </a:r>
          </a:p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nton"/>
                <a:sym typeface="Anton"/>
              </a:rPr>
              <a:t>Abdulazeez Qusay</a:t>
            </a:r>
          </a:p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rgbClr val="FFFFFF"/>
                </a:solidFill>
                <a:latin typeface="Anton"/>
                <a:sym typeface="Anton"/>
              </a:rPr>
              <a:t>Kozhin</a:t>
            </a:r>
            <a:r>
              <a:rPr lang="en-US" sz="3200" dirty="0">
                <a:solidFill>
                  <a:srgbClr val="FFFFFF"/>
                </a:solidFill>
                <a:latin typeface="Anton"/>
                <a:sym typeface="Anton"/>
              </a:rPr>
              <a:t> Kamal</a:t>
            </a:r>
            <a:endParaRPr sz="800" dirty="0"/>
          </a:p>
        </p:txBody>
      </p:sp>
      <p:pic>
        <p:nvPicPr>
          <p:cNvPr id="537" name="Google Shape;53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8500" y="1596000"/>
            <a:ext cx="7051144" cy="6515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59;p11">
            <a:extLst>
              <a:ext uri="{FF2B5EF4-FFF2-40B4-BE49-F238E27FC236}">
                <a16:creationId xmlns:a16="http://schemas.microsoft.com/office/drawing/2014/main" id="{1C1A281B-E435-B1AC-0337-ABBCDE7C4782}"/>
              </a:ext>
            </a:extLst>
          </p:cNvPr>
          <p:cNvGrpSpPr/>
          <p:nvPr/>
        </p:nvGrpSpPr>
        <p:grpSpPr>
          <a:xfrm>
            <a:off x="4929300" y="6261558"/>
            <a:ext cx="3762457" cy="3783085"/>
            <a:chOff x="0" y="-47625"/>
            <a:chExt cx="1719710" cy="378511"/>
          </a:xfrm>
        </p:grpSpPr>
        <p:sp>
          <p:nvSpPr>
            <p:cNvPr id="3" name="Google Shape;460;p11">
              <a:extLst>
                <a:ext uri="{FF2B5EF4-FFF2-40B4-BE49-F238E27FC236}">
                  <a16:creationId xmlns:a16="http://schemas.microsoft.com/office/drawing/2014/main" id="{A53362A4-EEE7-EE1D-BDA1-CD6C69CF32E4}"/>
                </a:ext>
              </a:extLst>
            </p:cNvPr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61;p11">
              <a:extLst>
                <a:ext uri="{FF2B5EF4-FFF2-40B4-BE49-F238E27FC236}">
                  <a16:creationId xmlns:a16="http://schemas.microsoft.com/office/drawing/2014/main" id="{92CCF08C-4299-762F-8537-4BB5C821CD34}"/>
                </a:ext>
              </a:extLst>
            </p:cNvPr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462;p11">
            <a:extLst>
              <a:ext uri="{FF2B5EF4-FFF2-40B4-BE49-F238E27FC236}">
                <a16:creationId xmlns:a16="http://schemas.microsoft.com/office/drawing/2014/main" id="{7F825487-E88E-380E-EE0A-4E105E96AF8F}"/>
              </a:ext>
            </a:extLst>
          </p:cNvPr>
          <p:cNvGrpSpPr/>
          <p:nvPr/>
        </p:nvGrpSpPr>
        <p:grpSpPr>
          <a:xfrm>
            <a:off x="4929300" y="6085490"/>
            <a:ext cx="3782144" cy="3783085"/>
            <a:chOff x="0" y="-47625"/>
            <a:chExt cx="1719710" cy="378511"/>
          </a:xfrm>
        </p:grpSpPr>
        <p:sp>
          <p:nvSpPr>
            <p:cNvPr id="6" name="Google Shape;463;p11">
              <a:extLst>
                <a:ext uri="{FF2B5EF4-FFF2-40B4-BE49-F238E27FC236}">
                  <a16:creationId xmlns:a16="http://schemas.microsoft.com/office/drawing/2014/main" id="{66D19305-A399-3DF4-B6DC-661F952B9D67}"/>
                </a:ext>
              </a:extLst>
            </p:cNvPr>
            <p:cNvSpPr/>
            <p:nvPr/>
          </p:nvSpPr>
          <p:spPr>
            <a:xfrm>
              <a:off x="0" y="0"/>
              <a:ext cx="1719710" cy="330886"/>
            </a:xfrm>
            <a:custGeom>
              <a:avLst/>
              <a:gdLst/>
              <a:ahLst/>
              <a:cxnLst/>
              <a:rect l="l" t="t" r="r" b="b"/>
              <a:pathLst>
                <a:path w="1719710" h="330886" extrusionOk="0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4;p11">
              <a:extLst>
                <a:ext uri="{FF2B5EF4-FFF2-40B4-BE49-F238E27FC236}">
                  <a16:creationId xmlns:a16="http://schemas.microsoft.com/office/drawing/2014/main" id="{DEA63B6B-5778-8DC2-B112-146FFDD9CC4E}"/>
                </a:ext>
              </a:extLst>
            </p:cNvPr>
            <p:cNvSpPr txBox="1"/>
            <p:nvPr/>
          </p:nvSpPr>
          <p:spPr>
            <a:xfrm>
              <a:off x="0" y="-47625"/>
              <a:ext cx="1719710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536;p11">
            <a:extLst>
              <a:ext uri="{FF2B5EF4-FFF2-40B4-BE49-F238E27FC236}">
                <a16:creationId xmlns:a16="http://schemas.microsoft.com/office/drawing/2014/main" id="{1C6E03B0-E08E-58E6-448F-1CA8C8B0BBE9}"/>
              </a:ext>
            </a:extLst>
          </p:cNvPr>
          <p:cNvSpPr txBox="1"/>
          <p:nvPr/>
        </p:nvSpPr>
        <p:spPr>
          <a:xfrm>
            <a:off x="5144312" y="6786130"/>
            <a:ext cx="4242656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Supervisor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: </a:t>
            </a:r>
          </a:p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DR.Nawin</a:t>
            </a:r>
            <a:r>
              <a:rPr lang="en-US" sz="32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Najat</a:t>
            </a:r>
            <a:endParaRPr lang="en-US" sz="3200" b="0" i="0" u="none" strike="noStrike" cap="none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12"/>
          <p:cNvGrpSpPr/>
          <p:nvPr/>
        </p:nvGrpSpPr>
        <p:grpSpPr>
          <a:xfrm>
            <a:off x="844802" y="3560624"/>
            <a:ext cx="2065565" cy="1437158"/>
            <a:chOff x="0" y="-47625"/>
            <a:chExt cx="544017" cy="378511"/>
          </a:xfrm>
        </p:grpSpPr>
        <p:sp>
          <p:nvSpPr>
            <p:cNvPr id="543" name="Google Shape;543;p12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8" name="Google Shape;548;p12"/>
          <p:cNvGrpSpPr/>
          <p:nvPr/>
        </p:nvGrpSpPr>
        <p:grpSpPr>
          <a:xfrm>
            <a:off x="890224" y="6395204"/>
            <a:ext cx="2065565" cy="1437158"/>
            <a:chOff x="0" y="-47625"/>
            <a:chExt cx="544017" cy="378511"/>
          </a:xfrm>
        </p:grpSpPr>
        <p:sp>
          <p:nvSpPr>
            <p:cNvPr id="549" name="Google Shape;549;p12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" name="Google Shape;554;p12"/>
          <p:cNvGrpSpPr/>
          <p:nvPr/>
        </p:nvGrpSpPr>
        <p:grpSpPr>
          <a:xfrm>
            <a:off x="954377" y="3384557"/>
            <a:ext cx="2065565" cy="1437158"/>
            <a:chOff x="0" y="-47625"/>
            <a:chExt cx="544017" cy="378511"/>
          </a:xfrm>
        </p:grpSpPr>
        <p:sp>
          <p:nvSpPr>
            <p:cNvPr id="555" name="Google Shape;555;p12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12"/>
          <p:cNvGrpSpPr/>
          <p:nvPr/>
        </p:nvGrpSpPr>
        <p:grpSpPr>
          <a:xfrm>
            <a:off x="999799" y="6219137"/>
            <a:ext cx="2065565" cy="1437158"/>
            <a:chOff x="0" y="-47625"/>
            <a:chExt cx="544017" cy="378511"/>
          </a:xfrm>
        </p:grpSpPr>
        <p:sp>
          <p:nvSpPr>
            <p:cNvPr id="561" name="Google Shape;561;p12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p12"/>
          <p:cNvGrpSpPr/>
          <p:nvPr/>
        </p:nvGrpSpPr>
        <p:grpSpPr>
          <a:xfrm>
            <a:off x="9881257" y="3557440"/>
            <a:ext cx="2065565" cy="1437158"/>
            <a:chOff x="0" y="-47625"/>
            <a:chExt cx="544017" cy="378511"/>
          </a:xfrm>
        </p:grpSpPr>
        <p:sp>
          <p:nvSpPr>
            <p:cNvPr id="567" name="Google Shape;567;p12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12"/>
          <p:cNvGrpSpPr/>
          <p:nvPr/>
        </p:nvGrpSpPr>
        <p:grpSpPr>
          <a:xfrm>
            <a:off x="9990832" y="3381372"/>
            <a:ext cx="2065565" cy="1437158"/>
            <a:chOff x="0" y="-47625"/>
            <a:chExt cx="544017" cy="378511"/>
          </a:xfrm>
        </p:grpSpPr>
        <p:sp>
          <p:nvSpPr>
            <p:cNvPr id="570" name="Google Shape;570;p12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2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2" name="Google Shape;572;p12"/>
          <p:cNvGrpSpPr/>
          <p:nvPr/>
        </p:nvGrpSpPr>
        <p:grpSpPr>
          <a:xfrm>
            <a:off x="11999777" y="8705085"/>
            <a:ext cx="5851054" cy="1309820"/>
            <a:chOff x="0" y="0"/>
            <a:chExt cx="7801405" cy="1746426"/>
          </a:xfrm>
        </p:grpSpPr>
        <p:grpSp>
          <p:nvGrpSpPr>
            <p:cNvPr id="573" name="Google Shape;573;p12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574" name="Google Shape;574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" name="Google Shape;576;p12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577" name="Google Shape;577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9" name="Google Shape;579;p12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580" name="Google Shape;580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12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583" name="Google Shape;583;p12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12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5" name="Google Shape;585;p12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586" name="Google Shape;586;p12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1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8" name="Google Shape;588;p12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589" name="Google Shape;589;p12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2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1" name="Google Shape;591;p12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592" name="Google Shape;592;p12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2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12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595" name="Google Shape;595;p12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12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598" name="Google Shape;598;p12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2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0" name="Google Shape;600;p12"/>
          <p:cNvSpPr txBox="1"/>
          <p:nvPr/>
        </p:nvSpPr>
        <p:spPr>
          <a:xfrm>
            <a:off x="3490071" y="3557440"/>
            <a:ext cx="5209688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989"/>
              </a:lnSpc>
            </a:pPr>
            <a:r>
              <a:rPr lang="en-US" sz="48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The Rise of Stack Overflow</a:t>
            </a:r>
            <a:endParaRPr lang="en-US" sz="500" dirty="0"/>
          </a:p>
          <a:p>
            <a:pPr marL="0" marR="0" lvl="0" indent="0" algn="l" rtl="0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2" name="Google Shape;602;p12"/>
          <p:cNvSpPr txBox="1"/>
          <p:nvPr/>
        </p:nvSpPr>
        <p:spPr>
          <a:xfrm>
            <a:off x="3535493" y="6421223"/>
            <a:ext cx="466299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The Fall of Stack Overflow</a:t>
            </a:r>
            <a:endParaRPr lang="en-US" sz="500" dirty="0"/>
          </a:p>
        </p:txBody>
      </p:sp>
      <p:sp>
        <p:nvSpPr>
          <p:cNvPr id="604" name="Google Shape;604;p12"/>
          <p:cNvSpPr txBox="1"/>
          <p:nvPr/>
        </p:nvSpPr>
        <p:spPr>
          <a:xfrm>
            <a:off x="890224" y="907938"/>
            <a:ext cx="12446871" cy="190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TABLE OF CONTENTS</a:t>
            </a:r>
            <a:endParaRPr dirty="0"/>
          </a:p>
        </p:txBody>
      </p:sp>
      <p:sp>
        <p:nvSpPr>
          <p:cNvPr id="605" name="Google Shape;605;p12"/>
          <p:cNvSpPr txBox="1"/>
          <p:nvPr/>
        </p:nvSpPr>
        <p:spPr>
          <a:xfrm>
            <a:off x="1534081" y="3617752"/>
            <a:ext cx="1485861" cy="120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73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607" name="Google Shape;607;p12"/>
          <p:cNvSpPr txBox="1"/>
          <p:nvPr/>
        </p:nvSpPr>
        <p:spPr>
          <a:xfrm>
            <a:off x="1579503" y="6421223"/>
            <a:ext cx="1485861" cy="120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73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609" name="Google Shape;609;p12"/>
          <p:cNvSpPr txBox="1"/>
          <p:nvPr/>
        </p:nvSpPr>
        <p:spPr>
          <a:xfrm>
            <a:off x="12526526" y="3627768"/>
            <a:ext cx="535157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The Future of Q&amp;A Sites</a:t>
            </a:r>
            <a:endParaRPr lang="en-US" sz="800" dirty="0"/>
          </a:p>
        </p:txBody>
      </p:sp>
      <p:sp>
        <p:nvSpPr>
          <p:cNvPr id="610" name="Google Shape;610;p12"/>
          <p:cNvSpPr txBox="1"/>
          <p:nvPr/>
        </p:nvSpPr>
        <p:spPr>
          <a:xfrm>
            <a:off x="10570536" y="3614567"/>
            <a:ext cx="1485861" cy="120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73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grpSp>
        <p:nvGrpSpPr>
          <p:cNvPr id="611" name="Google Shape;611;p12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612" name="Google Shape;612;p12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613" name="Google Shape;613;p12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2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5" name="Google Shape;615;p12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616" name="Google Shape;616;p12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2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12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619" name="Google Shape;619;p12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2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12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622" name="Google Shape;622;p12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2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4" name="Google Shape;624;p12"/>
          <p:cNvSpPr/>
          <p:nvPr/>
        </p:nvSpPr>
        <p:spPr>
          <a:xfrm>
            <a:off x="9692551" y="763817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oogle Shape;629;p13"/>
          <p:cNvGrpSpPr/>
          <p:nvPr/>
        </p:nvGrpSpPr>
        <p:grpSpPr>
          <a:xfrm>
            <a:off x="785598" y="1753941"/>
            <a:ext cx="2065565" cy="1437158"/>
            <a:chOff x="0" y="-47625"/>
            <a:chExt cx="544017" cy="378511"/>
          </a:xfrm>
        </p:grpSpPr>
        <p:sp>
          <p:nvSpPr>
            <p:cNvPr id="630" name="Google Shape;630;p13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3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2" name="Google Shape;632;p13"/>
          <p:cNvGrpSpPr/>
          <p:nvPr/>
        </p:nvGrpSpPr>
        <p:grpSpPr>
          <a:xfrm>
            <a:off x="895173" y="1577873"/>
            <a:ext cx="2065565" cy="1437158"/>
            <a:chOff x="0" y="-47625"/>
            <a:chExt cx="544017" cy="378511"/>
          </a:xfrm>
        </p:grpSpPr>
        <p:sp>
          <p:nvSpPr>
            <p:cNvPr id="633" name="Google Shape;633;p13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3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5" name="Google Shape;635;p13"/>
          <p:cNvGrpSpPr/>
          <p:nvPr/>
        </p:nvGrpSpPr>
        <p:grpSpPr>
          <a:xfrm>
            <a:off x="11999777" y="8705085"/>
            <a:ext cx="5851054" cy="1309820"/>
            <a:chOff x="0" y="0"/>
            <a:chExt cx="7801405" cy="1746426"/>
          </a:xfrm>
        </p:grpSpPr>
        <p:grpSp>
          <p:nvGrpSpPr>
            <p:cNvPr id="636" name="Google Shape;636;p13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637" name="Google Shape;637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3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13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640" name="Google Shape;640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3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2" name="Google Shape;642;p13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643" name="Google Shape;643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3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5" name="Google Shape;645;p13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646" name="Google Shape;646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13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8" name="Google Shape;648;p13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649" name="Google Shape;649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3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1" name="Google Shape;651;p13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652" name="Google Shape;652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3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4" name="Google Shape;654;p13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655" name="Google Shape;655;p13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3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7" name="Google Shape;657;p13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658" name="Google Shape;658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3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0" name="Google Shape;660;p13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661" name="Google Shape;661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3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63" name="Google Shape;663;p13"/>
          <p:cNvGrpSpPr/>
          <p:nvPr/>
        </p:nvGrpSpPr>
        <p:grpSpPr>
          <a:xfrm>
            <a:off x="503083" y="429189"/>
            <a:ext cx="5851054" cy="1309820"/>
            <a:chOff x="0" y="0"/>
            <a:chExt cx="7801405" cy="1746426"/>
          </a:xfrm>
        </p:grpSpPr>
        <p:grpSp>
          <p:nvGrpSpPr>
            <p:cNvPr id="664" name="Google Shape;664;p13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665" name="Google Shape;665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13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13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668" name="Google Shape;668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13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" name="Google Shape;670;p13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671" name="Google Shape;671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13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3" name="Google Shape;673;p13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674" name="Google Shape;674;p13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3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13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677" name="Google Shape;677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3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9" name="Google Shape;679;p13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680" name="Google Shape;680;p13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3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2" name="Google Shape;682;p13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683" name="Google Shape;683;p13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3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5" name="Google Shape;685;p13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686" name="Google Shape;686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3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8" name="Google Shape;688;p13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689" name="Google Shape;689;p13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3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1" name="Google Shape;691;p13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692" name="Google Shape;692;p13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693" name="Google Shape;693;p1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13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" name="Google Shape;695;p13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696" name="Google Shape;696;p13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3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8" name="Google Shape;698;p13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699" name="Google Shape;699;p13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13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1" name="Google Shape;701;p13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702" name="Google Shape;702;p13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3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04" name="Google Shape;704;p13"/>
          <p:cNvSpPr/>
          <p:nvPr/>
        </p:nvSpPr>
        <p:spPr>
          <a:xfrm>
            <a:off x="12591252" y="1558183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05" name="Google Shape;705;p13"/>
          <p:cNvSpPr txBox="1"/>
          <p:nvPr/>
        </p:nvSpPr>
        <p:spPr>
          <a:xfrm>
            <a:off x="3240708" y="1941821"/>
            <a:ext cx="949469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The Rise of Stack Overflow</a:t>
            </a:r>
            <a:endParaRPr lang="en-US" sz="700" dirty="0"/>
          </a:p>
        </p:txBody>
      </p:sp>
      <p:sp>
        <p:nvSpPr>
          <p:cNvPr id="706" name="Google Shape;706;p13"/>
          <p:cNvSpPr txBox="1"/>
          <p:nvPr/>
        </p:nvSpPr>
        <p:spPr>
          <a:xfrm>
            <a:off x="1474877" y="1811068"/>
            <a:ext cx="1485861" cy="120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73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707" name="Google Shape;707;p13"/>
          <p:cNvSpPr txBox="1"/>
          <p:nvPr/>
        </p:nvSpPr>
        <p:spPr>
          <a:xfrm>
            <a:off x="941987" y="3408167"/>
            <a:ext cx="11020583" cy="7238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Founded in 2008, Stack Overflow became the go-to platform for developers to ask and answer technical questions.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i="0" u="none" strike="noStrike" cap="none" dirty="0">
              <a:solidFill>
                <a:schemeClr val="tx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4572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Success factors:</a:t>
            </a:r>
          </a:p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     	Community-driven knowledge sharing.</a:t>
            </a:r>
          </a:p>
          <a:p>
            <a:pPr marR="0" lvl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	Gamification (reputation points, badges).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8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High-quality, peer-reviewed answers.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i="0" u="none" strike="noStrike" cap="none" dirty="0">
              <a:solidFill>
                <a:schemeClr val="tx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4572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At its peak, it hosted millions of users and solved countless coding problems.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i="0" u="none" strike="noStrike" cap="none" dirty="0">
              <a:solidFill>
                <a:schemeClr val="tx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pic>
        <p:nvPicPr>
          <p:cNvPr id="708" name="Google Shape;70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37677" y="3277075"/>
            <a:ext cx="4744817" cy="478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17"/>
          <p:cNvGrpSpPr/>
          <p:nvPr/>
        </p:nvGrpSpPr>
        <p:grpSpPr>
          <a:xfrm>
            <a:off x="881365" y="1699996"/>
            <a:ext cx="2065565" cy="1437158"/>
            <a:chOff x="0" y="-47625"/>
            <a:chExt cx="544017" cy="378511"/>
          </a:xfrm>
        </p:grpSpPr>
        <p:sp>
          <p:nvSpPr>
            <p:cNvPr id="918" name="Google Shape;918;p17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7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0" name="Google Shape;920;p17"/>
          <p:cNvGrpSpPr/>
          <p:nvPr/>
        </p:nvGrpSpPr>
        <p:grpSpPr>
          <a:xfrm>
            <a:off x="990940" y="1523929"/>
            <a:ext cx="2065565" cy="1437158"/>
            <a:chOff x="0" y="-47625"/>
            <a:chExt cx="544017" cy="378511"/>
          </a:xfrm>
        </p:grpSpPr>
        <p:sp>
          <p:nvSpPr>
            <p:cNvPr id="921" name="Google Shape;921;p17"/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7"/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3" name="Google Shape;923;p17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924" name="Google Shape;924;p17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925" name="Google Shape;925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7" name="Google Shape;927;p17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928" name="Google Shape;928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0" name="Google Shape;930;p17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931" name="Google Shape;931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1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3" name="Google Shape;933;p17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934" name="Google Shape;934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6" name="Google Shape;936;p17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937" name="Google Shape;937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9" name="Google Shape;939;p17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940" name="Google Shape;940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2" name="Google Shape;942;p17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943" name="Google Shape;943;p1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5" name="Google Shape;945;p17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946" name="Google Shape;946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8" name="Google Shape;948;p17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949" name="Google Shape;949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51" name="Google Shape;951;p17"/>
          <p:cNvGrpSpPr/>
          <p:nvPr/>
        </p:nvGrpSpPr>
        <p:grpSpPr>
          <a:xfrm>
            <a:off x="11999777" y="8693803"/>
            <a:ext cx="5851054" cy="1309820"/>
            <a:chOff x="0" y="0"/>
            <a:chExt cx="7801405" cy="1746426"/>
          </a:xfrm>
        </p:grpSpPr>
        <p:grpSp>
          <p:nvGrpSpPr>
            <p:cNvPr id="952" name="Google Shape;952;p1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953" name="Google Shape;953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5" name="Google Shape;955;p1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956" name="Google Shape;956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8" name="Google Shape;958;p1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959" name="Google Shape;959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1" name="Google Shape;961;p1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962" name="Google Shape;962;p1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4" name="Google Shape;964;p1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965" name="Google Shape;965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1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7" name="Google Shape;967;p1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968" name="Google Shape;968;p1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1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0" name="Google Shape;970;p1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971" name="Google Shape;971;p1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1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3" name="Google Shape;973;p1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974" name="Google Shape;974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6" name="Google Shape;976;p1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977" name="Google Shape;977;p1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1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79" name="Google Shape;979;p17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980" name="Google Shape;980;p17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981" name="Google Shape;981;p1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1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3" name="Google Shape;983;p17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984" name="Google Shape;984;p1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1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6" name="Google Shape;986;p17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987" name="Google Shape;987;p1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17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9" name="Google Shape;989;p17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990" name="Google Shape;990;p1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17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2" name="Google Shape;992;p17"/>
          <p:cNvSpPr/>
          <p:nvPr/>
        </p:nvSpPr>
        <p:spPr>
          <a:xfrm>
            <a:off x="13291784" y="885446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4" y="0"/>
                </a:lnTo>
                <a:lnTo>
                  <a:pt x="836444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3" name="Google Shape;993;p17"/>
          <p:cNvSpPr txBox="1"/>
          <p:nvPr/>
        </p:nvSpPr>
        <p:spPr>
          <a:xfrm>
            <a:off x="3520387" y="1975376"/>
            <a:ext cx="9494691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The Fall of Stack Overflow</a:t>
            </a:r>
            <a:endParaRPr lang="en-US" sz="500" dirty="0"/>
          </a:p>
        </p:txBody>
      </p:sp>
      <p:sp>
        <p:nvSpPr>
          <p:cNvPr id="994" name="Google Shape;994;p17"/>
          <p:cNvSpPr txBox="1"/>
          <p:nvPr/>
        </p:nvSpPr>
        <p:spPr>
          <a:xfrm>
            <a:off x="1570644" y="1757124"/>
            <a:ext cx="1485861" cy="1204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73" b="0" i="0" u="none" strike="noStrike" cap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995" name="Google Shape;995;p17"/>
          <p:cNvSpPr txBox="1"/>
          <p:nvPr/>
        </p:nvSpPr>
        <p:spPr>
          <a:xfrm>
            <a:off x="1025020" y="3260852"/>
            <a:ext cx="10937551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Decline in activity: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IQ" sz="2400" b="1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Users report fewer responses to questions.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IQ" sz="2400" b="1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Duplicate questions and outdated answers pile up.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i="0" u="none" strike="noStrike" cap="none" dirty="0">
              <a:solidFill>
                <a:schemeClr val="tx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marR="0" lvl="0" indent="-3429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Competition from AI: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IQ" sz="2400" b="1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ChatGPT provides instant, personalized answers without wait times.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IQ" sz="2400" b="1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4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AI avoids "gatekeeping" (e.g., downvotes for beginner questions).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i="0" u="none" strike="noStrike" cap="none" dirty="0">
              <a:solidFill>
                <a:schemeClr val="tx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2900" marR="0" lvl="0" indent="-3429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Traffic drop: Stack Overflow's 2023 report shows a ~30% decline in visits.</a:t>
            </a:r>
            <a:endParaRPr lang="en-US" sz="2400" b="0" i="0" u="none" strike="noStrike" cap="none" dirty="0">
              <a:solidFill>
                <a:schemeClr val="tx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996" name="Google Shape;9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94825" y="2649237"/>
            <a:ext cx="4819825" cy="5867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5"/>
          <p:cNvSpPr txBox="1"/>
          <p:nvPr/>
        </p:nvSpPr>
        <p:spPr>
          <a:xfrm>
            <a:off x="2490177" y="1896242"/>
            <a:ext cx="88326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The Future of Q&amp;A Sites</a:t>
            </a:r>
            <a:endParaRPr lang="en-US" sz="900" dirty="0"/>
          </a:p>
        </p:txBody>
      </p:sp>
      <p:grpSp>
        <p:nvGrpSpPr>
          <p:cNvPr id="764" name="Google Shape;764;p15"/>
          <p:cNvGrpSpPr/>
          <p:nvPr/>
        </p:nvGrpSpPr>
        <p:grpSpPr>
          <a:xfrm>
            <a:off x="417483" y="242356"/>
            <a:ext cx="5851053" cy="1309820"/>
            <a:chOff x="0" y="-241100"/>
            <a:chExt cx="7801404" cy="1746426"/>
          </a:xfrm>
        </p:grpSpPr>
        <p:grpSp>
          <p:nvGrpSpPr>
            <p:cNvPr id="765" name="Google Shape;765;p15"/>
            <p:cNvGrpSpPr/>
            <p:nvPr/>
          </p:nvGrpSpPr>
          <p:grpSpPr>
            <a:xfrm>
              <a:off x="0" y="-241100"/>
              <a:ext cx="2173363" cy="520366"/>
              <a:chOff x="0" y="-47625"/>
              <a:chExt cx="429306" cy="102789"/>
            </a:xfrm>
          </p:grpSpPr>
          <p:sp>
            <p:nvSpPr>
              <p:cNvPr id="766" name="Google Shape;766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15"/>
            <p:cNvGrpSpPr/>
            <p:nvPr/>
          </p:nvGrpSpPr>
          <p:grpSpPr>
            <a:xfrm>
              <a:off x="2571714" y="-241100"/>
              <a:ext cx="2173363" cy="520366"/>
              <a:chOff x="0" y="-47625"/>
              <a:chExt cx="429306" cy="102789"/>
            </a:xfrm>
          </p:grpSpPr>
          <p:sp>
            <p:nvSpPr>
              <p:cNvPr id="769" name="Google Shape;769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15"/>
            <p:cNvGrpSpPr/>
            <p:nvPr/>
          </p:nvGrpSpPr>
          <p:grpSpPr>
            <a:xfrm>
              <a:off x="1345333" y="575063"/>
              <a:ext cx="2173363" cy="520366"/>
              <a:chOff x="0" y="-47625"/>
              <a:chExt cx="429306" cy="102789"/>
            </a:xfrm>
          </p:grpSpPr>
          <p:sp>
            <p:nvSpPr>
              <p:cNvPr id="772" name="Google Shape;772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4" name="Google Shape;774;p15"/>
            <p:cNvGrpSpPr/>
            <p:nvPr/>
          </p:nvGrpSpPr>
          <p:grpSpPr>
            <a:xfrm>
              <a:off x="3658396" y="563641"/>
              <a:ext cx="2173363" cy="520366"/>
              <a:chOff x="0" y="-47625"/>
              <a:chExt cx="429306" cy="102789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5314643" y="-241100"/>
              <a:ext cx="1191036" cy="520366"/>
              <a:chOff x="0" y="-47625"/>
              <a:chExt cx="235266" cy="102789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0" name="Google Shape;780;p15"/>
            <p:cNvGrpSpPr/>
            <p:nvPr/>
          </p:nvGrpSpPr>
          <p:grpSpPr>
            <a:xfrm>
              <a:off x="6610368" y="563641"/>
              <a:ext cx="1191036" cy="520366"/>
              <a:chOff x="0" y="-47625"/>
              <a:chExt cx="235266" cy="102789"/>
            </a:xfrm>
          </p:grpSpPr>
          <p:sp>
            <p:nvSpPr>
              <p:cNvPr id="781" name="Google Shape;781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3" name="Google Shape;783;p15"/>
            <p:cNvGrpSpPr/>
            <p:nvPr/>
          </p:nvGrpSpPr>
          <p:grpSpPr>
            <a:xfrm>
              <a:off x="0" y="586483"/>
              <a:ext cx="1202459" cy="497523"/>
              <a:chOff x="0" y="-47625"/>
              <a:chExt cx="237523" cy="98276"/>
            </a:xfrm>
          </p:grpSpPr>
          <p:sp>
            <p:nvSpPr>
              <p:cNvPr id="784" name="Google Shape;784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15"/>
            <p:cNvGrpSpPr/>
            <p:nvPr/>
          </p:nvGrpSpPr>
          <p:grpSpPr>
            <a:xfrm>
              <a:off x="0" y="165166"/>
              <a:ext cx="4377449" cy="520366"/>
              <a:chOff x="0" y="-47625"/>
              <a:chExt cx="864681" cy="102789"/>
            </a:xfrm>
          </p:grpSpPr>
          <p:sp>
            <p:nvSpPr>
              <p:cNvPr id="787" name="Google Shape;787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9" name="Google Shape;789;p15"/>
            <p:cNvGrpSpPr/>
            <p:nvPr/>
          </p:nvGrpSpPr>
          <p:grpSpPr>
            <a:xfrm>
              <a:off x="0" y="984960"/>
              <a:ext cx="4377449" cy="520366"/>
              <a:chOff x="0" y="-47625"/>
              <a:chExt cx="864681" cy="102789"/>
            </a:xfrm>
          </p:grpSpPr>
          <p:sp>
            <p:nvSpPr>
              <p:cNvPr id="790" name="Google Shape;790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" name="Google Shape;792;p15"/>
          <p:cNvGrpSpPr/>
          <p:nvPr/>
        </p:nvGrpSpPr>
        <p:grpSpPr>
          <a:xfrm>
            <a:off x="11999777" y="8693803"/>
            <a:ext cx="5851054" cy="1309820"/>
            <a:chOff x="0" y="0"/>
            <a:chExt cx="7801405" cy="1746426"/>
          </a:xfrm>
        </p:grpSpPr>
        <p:grpSp>
          <p:nvGrpSpPr>
            <p:cNvPr id="793" name="Google Shape;793;p15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794" name="Google Shape;794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5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797" name="Google Shape;797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5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800" name="Google Shape;800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5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803" name="Google Shape;803;p15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5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15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806" name="Google Shape;806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8" name="Google Shape;808;p15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809" name="Google Shape;809;p15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5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15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812" name="Google Shape;812;p15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5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15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815" name="Google Shape;815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818" name="Google Shape;818;p15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5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1" name="Google Shape;821;p15"/>
          <p:cNvGrpSpPr/>
          <p:nvPr/>
        </p:nvGrpSpPr>
        <p:grpSpPr>
          <a:xfrm>
            <a:off x="11381524" y="1620877"/>
            <a:ext cx="5650428" cy="6554986"/>
            <a:chOff x="0" y="-47625"/>
            <a:chExt cx="1440048" cy="167058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0"/>
              <a:ext cx="1440048" cy="1622955"/>
            </a:xfrm>
            <a:custGeom>
              <a:avLst/>
              <a:gdLst/>
              <a:ahLst/>
              <a:cxnLst/>
              <a:rect l="l" t="t" r="r" b="b"/>
              <a:pathLst>
                <a:path w="1440048" h="1622955" extrusionOk="0">
                  <a:moveTo>
                    <a:pt x="69878" y="0"/>
                  </a:moveTo>
                  <a:lnTo>
                    <a:pt x="1370170" y="0"/>
                  </a:lnTo>
                  <a:cubicBezTo>
                    <a:pt x="1408762" y="0"/>
                    <a:pt x="1440048" y="31285"/>
                    <a:pt x="1440048" y="69878"/>
                  </a:cubicBezTo>
                  <a:lnTo>
                    <a:pt x="1440048" y="1553077"/>
                  </a:lnTo>
                  <a:cubicBezTo>
                    <a:pt x="1440048" y="1571610"/>
                    <a:pt x="1432686" y="1589384"/>
                    <a:pt x="1419581" y="1602488"/>
                  </a:cubicBezTo>
                  <a:cubicBezTo>
                    <a:pt x="1406476" y="1615593"/>
                    <a:pt x="1388703" y="1622955"/>
                    <a:pt x="1370170" y="1622955"/>
                  </a:cubicBezTo>
                  <a:lnTo>
                    <a:pt x="69878" y="1622955"/>
                  </a:lnTo>
                  <a:cubicBezTo>
                    <a:pt x="31285" y="1622955"/>
                    <a:pt x="0" y="1591670"/>
                    <a:pt x="0" y="1553077"/>
                  </a:cubicBezTo>
                  <a:lnTo>
                    <a:pt x="0" y="69878"/>
                  </a:lnTo>
                  <a:cubicBezTo>
                    <a:pt x="0" y="31285"/>
                    <a:pt x="31285" y="0"/>
                    <a:pt x="69878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5"/>
            <p:cNvSpPr txBox="1"/>
            <p:nvPr/>
          </p:nvSpPr>
          <p:spPr>
            <a:xfrm>
              <a:off x="0" y="-47625"/>
              <a:ext cx="1440048" cy="1670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4" name="Google Shape;824;p15"/>
          <p:cNvSpPr txBox="1"/>
          <p:nvPr/>
        </p:nvSpPr>
        <p:spPr>
          <a:xfrm>
            <a:off x="732780" y="3337545"/>
            <a:ext cx="10429651" cy="663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Adapt or perish: Q&amp;A sites must integrate AI (e.g., Stack Overflow's "Overflow AI" initiative).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b="1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4572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Human + AI synergy: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IQ" sz="2800" b="1" dirty="0"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handles quick answers; humans curate nuanced </a:t>
            </a:r>
            <a:r>
              <a:rPr lang="ar-IQ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discussions.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IQ" sz="2800" b="1" dirty="0"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Platforms could focus on community-building beyond </a:t>
            </a:r>
            <a:r>
              <a:rPr lang="ar-IQ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	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Q&amp;A.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b="1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57200" marR="0" lvl="0" indent="-45720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Final thought: ChatGPT isn't killing Q&amp;A—it's forcing evolution.</a:t>
            </a:r>
            <a:endParaRPr lang="en-US" sz="2800" b="0" i="0" u="none" strike="noStrike" cap="none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825" name="Google Shape;825;p15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826" name="Google Shape;826;p15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827" name="Google Shape;827;p1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5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9" name="Google Shape;829;p15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830" name="Google Shape;830;p15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5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2" name="Google Shape;832;p15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833" name="Google Shape;833;p15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5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5" name="Google Shape;835;p15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836" name="Google Shape;836;p15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5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838" name="Google Shape;8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1125" y="1519200"/>
            <a:ext cx="5851051" cy="64424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917;p17">
            <a:extLst>
              <a:ext uri="{FF2B5EF4-FFF2-40B4-BE49-F238E27FC236}">
                <a16:creationId xmlns:a16="http://schemas.microsoft.com/office/drawing/2014/main" id="{90F9A0C8-DAC8-F664-51A7-C50544F86841}"/>
              </a:ext>
            </a:extLst>
          </p:cNvPr>
          <p:cNvGrpSpPr/>
          <p:nvPr/>
        </p:nvGrpSpPr>
        <p:grpSpPr>
          <a:xfrm>
            <a:off x="256290" y="1650490"/>
            <a:ext cx="2065565" cy="1437158"/>
            <a:chOff x="0" y="-47625"/>
            <a:chExt cx="544017" cy="378511"/>
          </a:xfrm>
        </p:grpSpPr>
        <p:sp>
          <p:nvSpPr>
            <p:cNvPr id="4" name="Google Shape;918;p17">
              <a:extLst>
                <a:ext uri="{FF2B5EF4-FFF2-40B4-BE49-F238E27FC236}">
                  <a16:creationId xmlns:a16="http://schemas.microsoft.com/office/drawing/2014/main" id="{875F1A2F-E9B5-3B50-483A-EC105E2E0331}"/>
                </a:ext>
              </a:extLst>
            </p:cNvPr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19;p17">
              <a:extLst>
                <a:ext uri="{FF2B5EF4-FFF2-40B4-BE49-F238E27FC236}">
                  <a16:creationId xmlns:a16="http://schemas.microsoft.com/office/drawing/2014/main" id="{CC8C09FF-E62E-2171-774D-B260A0A72F75}"/>
                </a:ext>
              </a:extLst>
            </p:cNvPr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oogle Shape;920;p17">
            <a:extLst>
              <a:ext uri="{FF2B5EF4-FFF2-40B4-BE49-F238E27FC236}">
                <a16:creationId xmlns:a16="http://schemas.microsoft.com/office/drawing/2014/main" id="{F111C947-E2F2-E5B2-BAA6-1A7E1364A02B}"/>
              </a:ext>
            </a:extLst>
          </p:cNvPr>
          <p:cNvGrpSpPr/>
          <p:nvPr/>
        </p:nvGrpSpPr>
        <p:grpSpPr>
          <a:xfrm>
            <a:off x="365865" y="1474423"/>
            <a:ext cx="2065565" cy="1437158"/>
            <a:chOff x="0" y="-47625"/>
            <a:chExt cx="544017" cy="378511"/>
          </a:xfrm>
        </p:grpSpPr>
        <p:sp>
          <p:nvSpPr>
            <p:cNvPr id="7" name="Google Shape;921;p17">
              <a:extLst>
                <a:ext uri="{FF2B5EF4-FFF2-40B4-BE49-F238E27FC236}">
                  <a16:creationId xmlns:a16="http://schemas.microsoft.com/office/drawing/2014/main" id="{30CAAD15-ADC6-7B70-11B7-A3A137C715B1}"/>
                </a:ext>
              </a:extLst>
            </p:cNvPr>
            <p:cNvSpPr/>
            <p:nvPr/>
          </p:nvSpPr>
          <p:spPr>
            <a:xfrm>
              <a:off x="0" y="0"/>
              <a:ext cx="544017" cy="330886"/>
            </a:xfrm>
            <a:custGeom>
              <a:avLst/>
              <a:gdLst/>
              <a:ahLst/>
              <a:cxnLst/>
              <a:rect l="l" t="t" r="r" b="b"/>
              <a:pathLst>
                <a:path w="544017" h="330886" extrusionOk="0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22;p17">
              <a:extLst>
                <a:ext uri="{FF2B5EF4-FFF2-40B4-BE49-F238E27FC236}">
                  <a16:creationId xmlns:a16="http://schemas.microsoft.com/office/drawing/2014/main" id="{9A3576BB-9200-1CA1-68AE-3B3821E17DDB}"/>
                </a:ext>
              </a:extLst>
            </p:cNvPr>
            <p:cNvSpPr txBox="1"/>
            <p:nvPr/>
          </p:nvSpPr>
          <p:spPr>
            <a:xfrm>
              <a:off x="0" y="-47625"/>
              <a:ext cx="544017" cy="378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994;p17">
            <a:extLst>
              <a:ext uri="{FF2B5EF4-FFF2-40B4-BE49-F238E27FC236}">
                <a16:creationId xmlns:a16="http://schemas.microsoft.com/office/drawing/2014/main" id="{41CB08CF-0833-2C2C-AD3D-E4F5353A8674}"/>
              </a:ext>
            </a:extLst>
          </p:cNvPr>
          <p:cNvSpPr txBox="1"/>
          <p:nvPr/>
        </p:nvSpPr>
        <p:spPr>
          <a:xfrm>
            <a:off x="945569" y="1707618"/>
            <a:ext cx="1485861" cy="145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73" b="0" i="0" u="none" strike="noStrike" cap="none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28"/>
          <p:cNvSpPr/>
          <p:nvPr/>
        </p:nvSpPr>
        <p:spPr>
          <a:xfrm>
            <a:off x="13877472" y="1581954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67" name="Google Shape;1767;p28"/>
          <p:cNvSpPr txBox="1"/>
          <p:nvPr/>
        </p:nvSpPr>
        <p:spPr>
          <a:xfrm>
            <a:off x="1028700" y="1035454"/>
            <a:ext cx="10026433" cy="190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 dirty="0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RESOURCE PAGE</a:t>
            </a:r>
            <a:endParaRPr dirty="0"/>
          </a:p>
        </p:txBody>
      </p:sp>
      <p:sp>
        <p:nvSpPr>
          <p:cNvPr id="1769" name="Google Shape;1769;p28"/>
          <p:cNvSpPr txBox="1"/>
          <p:nvPr/>
        </p:nvSpPr>
        <p:spPr>
          <a:xfrm>
            <a:off x="1036327" y="3902262"/>
            <a:ext cx="9810772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rtl="0" fontAlgn="base"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Google Sans"/>
              </a:rPr>
              <a:t>What is Vibe Coding? </a:t>
            </a:r>
            <a:r>
              <a:rPr lang="en-US" sz="2800" dirty="0">
                <a:latin typeface="Google Sans"/>
              </a:rPr>
              <a:t>From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Google Sans"/>
              </a:rPr>
              <a:t>IBM</a:t>
            </a:r>
            <a:r>
              <a:rPr lang="ar-IQ" sz="2800" b="0" i="0" u="none" strike="noStrike" dirty="0">
                <a:solidFill>
                  <a:srgbClr val="000000"/>
                </a:solidFill>
                <a:effectLst/>
                <a:latin typeface="Google Sans"/>
              </a:rPr>
              <a:t> </a:t>
            </a:r>
            <a:r>
              <a:rPr lang="en-US" sz="2800" b="0" i="0" u="sng" strike="noStrike" dirty="0">
                <a:solidFill>
                  <a:srgbClr val="0000EE"/>
                </a:solidFill>
                <a:effectLst/>
                <a:latin typeface="Google Sans"/>
                <a:hlinkClick r:id="rId4"/>
              </a:rPr>
              <a:t>https://stackoverflow.com/questions</a:t>
            </a:r>
            <a:endParaRPr lang="en-US" sz="2800" b="0" i="0" u="sng" strike="noStrike" dirty="0">
              <a:solidFill>
                <a:srgbClr val="0000EE"/>
              </a:solidFill>
              <a:effectLst/>
              <a:latin typeface="Google Sans"/>
            </a:endParaRPr>
          </a:p>
          <a:p>
            <a:pPr rtl="0" fontAlgn="base"/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Google Sans"/>
              </a:rPr>
              <a:t>2.blog.replit.com</a:t>
            </a:r>
          </a:p>
          <a:p>
            <a:pPr rtl="0" fontAlgn="base"/>
            <a:r>
              <a:rPr lang="en-US" sz="2800" b="0" i="0" u="sng" strike="noStrike" dirty="0">
                <a:solidFill>
                  <a:srgbClr val="0000EE"/>
                </a:solidFill>
                <a:effectLst/>
                <a:latin typeface="Google Sans"/>
                <a:hlinkClick r:id="rId5"/>
              </a:rPr>
              <a:t>https://www.similarweb.com/corp/ourdata/</a:t>
            </a:r>
            <a:endParaRPr lang="en-US" sz="2800" b="0" i="0" u="sng" strike="noStrike" dirty="0">
              <a:solidFill>
                <a:srgbClr val="0000EE"/>
              </a:solidFill>
              <a:effectLst/>
              <a:latin typeface="Google Sans"/>
            </a:endParaRPr>
          </a:p>
          <a:p>
            <a:pPr rtl="0" fontAlgn="base"/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Google Sans"/>
              </a:rPr>
              <a:t>3.tiiny.host</a:t>
            </a:r>
          </a:p>
          <a:p>
            <a:pPr rtl="0" fontAlgn="base"/>
            <a:r>
              <a:rPr lang="en-US" sz="2800" b="0" i="0" u="sng" strike="noStrike" dirty="0">
                <a:solidFill>
                  <a:srgbClr val="0000EE"/>
                </a:solidFill>
                <a:effectLst/>
                <a:latin typeface="Google Sans"/>
                <a:hlinkClick r:id="rId6"/>
              </a:rPr>
              <a:t>https://www.purdue.edu/newsroom/2023/Q3/chatgpt-outperforms-stack-overflow-in-coding-answers-study-finds/</a:t>
            </a:r>
            <a:endParaRPr lang="en-US" sz="2800" b="0" i="0" u="sng" strike="noStrike" dirty="0">
              <a:solidFill>
                <a:srgbClr val="0000EE"/>
              </a:solidFill>
              <a:effectLst/>
              <a:latin typeface="Google Sans"/>
            </a:endParaRPr>
          </a:p>
          <a:p>
            <a:pPr rtl="0" fontAlgn="base"/>
            <a:endParaRPr sz="2000" dirty="0"/>
          </a:p>
        </p:txBody>
      </p:sp>
      <p:grpSp>
        <p:nvGrpSpPr>
          <p:cNvPr id="1771" name="Google Shape;1771;p28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1772" name="Google Shape;1772;p28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1773" name="Google Shape;1773;p2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28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5" name="Google Shape;1775;p28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1776" name="Google Shape;1776;p28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28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8" name="Google Shape;1778;p28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1779" name="Google Shape;1779;p28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28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1" name="Google Shape;1781;p28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1782" name="Google Shape;1782;p28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28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784" name="Google Shape;178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35417" y="1647750"/>
            <a:ext cx="2016358" cy="13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5" name="Google Shape;1785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47151" y="1577550"/>
            <a:ext cx="1457336" cy="13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6" name="Google Shape;1786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352345" y="3471045"/>
            <a:ext cx="1226075" cy="12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917375" y="3283131"/>
            <a:ext cx="1141250" cy="1384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713926" y="3283125"/>
            <a:ext cx="2161347" cy="12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9" name="Google Shape;1789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502400" y="5284241"/>
            <a:ext cx="1019375" cy="912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890650" y="5155417"/>
            <a:ext cx="991750" cy="1003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" name="Google Shape;1791;p2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345413" y="5132452"/>
            <a:ext cx="977025" cy="995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2" name="Google Shape;1792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634113" y="5074737"/>
            <a:ext cx="1031600" cy="1019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1433351" y="6657245"/>
            <a:ext cx="1067575" cy="868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2954213" y="6647320"/>
            <a:ext cx="1067575" cy="103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2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4355399" y="6591071"/>
            <a:ext cx="991750" cy="111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p2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5654613" y="6608425"/>
            <a:ext cx="990625" cy="108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2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424700" y="7949564"/>
            <a:ext cx="1067550" cy="109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28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2837621" y="7962746"/>
            <a:ext cx="1067575" cy="10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28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4283021" y="8030136"/>
            <a:ext cx="908078" cy="100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28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5568925" y="7978184"/>
            <a:ext cx="977000" cy="1065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27"/>
          <p:cNvSpPr/>
          <p:nvPr/>
        </p:nvSpPr>
        <p:spPr>
          <a:xfrm>
            <a:off x="13785666" y="4174220"/>
            <a:ext cx="836443" cy="1333460"/>
          </a:xfrm>
          <a:custGeom>
            <a:avLst/>
            <a:gdLst/>
            <a:ahLst/>
            <a:cxnLst/>
            <a:rect l="l" t="t" r="r" b="b"/>
            <a:pathLst>
              <a:path w="836443" h="1333460" extrusionOk="0">
                <a:moveTo>
                  <a:pt x="0" y="0"/>
                </a:moveTo>
                <a:lnTo>
                  <a:pt x="836443" y="0"/>
                </a:lnTo>
                <a:lnTo>
                  <a:pt x="836443" y="1333460"/>
                </a:lnTo>
                <a:lnTo>
                  <a:pt x="0" y="1333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91" name="Google Shape;1691;p27"/>
          <p:cNvGrpSpPr/>
          <p:nvPr/>
        </p:nvGrpSpPr>
        <p:grpSpPr>
          <a:xfrm rot="2821008">
            <a:off x="16959926" y="165868"/>
            <a:ext cx="1057412" cy="1194325"/>
            <a:chOff x="-95788" y="-89271"/>
            <a:chExt cx="1409883" cy="1592433"/>
          </a:xfrm>
        </p:grpSpPr>
        <p:grpSp>
          <p:nvGrpSpPr>
            <p:cNvPr id="1692" name="Google Shape;1692;p27"/>
            <p:cNvGrpSpPr/>
            <p:nvPr/>
          </p:nvGrpSpPr>
          <p:grpSpPr>
            <a:xfrm rot="-2821008">
              <a:off x="134749" y="283003"/>
              <a:ext cx="943438" cy="1040647"/>
              <a:chOff x="0" y="-47625"/>
              <a:chExt cx="343153" cy="378511"/>
            </a:xfrm>
          </p:grpSpPr>
          <p:sp>
            <p:nvSpPr>
              <p:cNvPr id="1693" name="Google Shape;1693;p2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2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27"/>
            <p:cNvGrpSpPr/>
            <p:nvPr/>
          </p:nvGrpSpPr>
          <p:grpSpPr>
            <a:xfrm rot="-2821008">
              <a:off x="140122" y="90242"/>
              <a:ext cx="943438" cy="1040647"/>
              <a:chOff x="0" y="-47625"/>
              <a:chExt cx="343153" cy="378511"/>
            </a:xfrm>
          </p:grpSpPr>
          <p:sp>
            <p:nvSpPr>
              <p:cNvPr id="1696" name="Google Shape;1696;p27"/>
              <p:cNvSpPr/>
              <p:nvPr/>
            </p:nvSpPr>
            <p:spPr>
              <a:xfrm>
                <a:off x="0" y="0"/>
                <a:ext cx="343153" cy="330886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 extrusionOk="0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27"/>
              <p:cNvSpPr txBox="1"/>
              <p:nvPr/>
            </p:nvSpPr>
            <p:spPr>
              <a:xfrm>
                <a:off x="0" y="-47625"/>
                <a:ext cx="343153" cy="378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7125" tIns="117125" rIns="117125" bIns="1171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8" name="Google Shape;1698;p27"/>
            <p:cNvGrpSpPr/>
            <p:nvPr/>
          </p:nvGrpSpPr>
          <p:grpSpPr>
            <a:xfrm>
              <a:off x="625032" y="253446"/>
              <a:ext cx="69946" cy="699445"/>
              <a:chOff x="0" y="-47625"/>
              <a:chExt cx="31856" cy="318558"/>
            </a:xfrm>
          </p:grpSpPr>
          <p:sp>
            <p:nvSpPr>
              <p:cNvPr id="1699" name="Google Shape;1699;p27"/>
              <p:cNvSpPr/>
              <p:nvPr/>
            </p:nvSpPr>
            <p:spPr>
              <a:xfrm>
                <a:off x="0" y="0"/>
                <a:ext cx="31856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 extrusionOk="0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27"/>
              <p:cNvSpPr txBox="1"/>
              <p:nvPr/>
            </p:nvSpPr>
            <p:spPr>
              <a:xfrm>
                <a:off x="0" y="-47625"/>
                <a:ext cx="31856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1" name="Google Shape;1701;p27"/>
            <p:cNvGrpSpPr/>
            <p:nvPr/>
          </p:nvGrpSpPr>
          <p:grpSpPr>
            <a:xfrm rot="5400000">
              <a:off x="676029" y="305730"/>
              <a:ext cx="72519" cy="699445"/>
              <a:chOff x="0" y="-47625"/>
              <a:chExt cx="33028" cy="318558"/>
            </a:xfrm>
          </p:grpSpPr>
          <p:sp>
            <p:nvSpPr>
              <p:cNvPr id="1702" name="Google Shape;1702;p27"/>
              <p:cNvSpPr/>
              <p:nvPr/>
            </p:nvSpPr>
            <p:spPr>
              <a:xfrm>
                <a:off x="0" y="0"/>
                <a:ext cx="33028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33028" h="270933" extrusionOk="0">
                    <a:moveTo>
                      <a:pt x="16514" y="0"/>
                    </a:moveTo>
                    <a:lnTo>
                      <a:pt x="16514" y="0"/>
                    </a:lnTo>
                    <a:cubicBezTo>
                      <a:pt x="25635" y="0"/>
                      <a:pt x="33028" y="7394"/>
                      <a:pt x="33028" y="16514"/>
                    </a:cubicBezTo>
                    <a:lnTo>
                      <a:pt x="33028" y="254419"/>
                    </a:lnTo>
                    <a:cubicBezTo>
                      <a:pt x="33028" y="258799"/>
                      <a:pt x="31288" y="262999"/>
                      <a:pt x="28191" y="266096"/>
                    </a:cubicBezTo>
                    <a:cubicBezTo>
                      <a:pt x="25094" y="269193"/>
                      <a:pt x="20894" y="270933"/>
                      <a:pt x="16514" y="270933"/>
                    </a:cubicBezTo>
                    <a:lnTo>
                      <a:pt x="16514" y="270933"/>
                    </a:lnTo>
                    <a:cubicBezTo>
                      <a:pt x="7394" y="270933"/>
                      <a:pt x="0" y="263540"/>
                      <a:pt x="0" y="254419"/>
                    </a:cubicBezTo>
                    <a:lnTo>
                      <a:pt x="0" y="16514"/>
                    </a:lnTo>
                    <a:cubicBezTo>
                      <a:pt x="0" y="12134"/>
                      <a:pt x="1740" y="7934"/>
                      <a:pt x="4837" y="4837"/>
                    </a:cubicBezTo>
                    <a:cubicBezTo>
                      <a:pt x="7934" y="1740"/>
                      <a:pt x="12134" y="0"/>
                      <a:pt x="16514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27"/>
              <p:cNvSpPr txBox="1"/>
              <p:nvPr/>
            </p:nvSpPr>
            <p:spPr>
              <a:xfrm>
                <a:off x="0" y="-47625"/>
                <a:ext cx="33028" cy="31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04" name="Google Shape;1704;p27"/>
          <p:cNvSpPr txBox="1"/>
          <p:nvPr/>
        </p:nvSpPr>
        <p:spPr>
          <a:xfrm>
            <a:off x="1028700" y="726150"/>
            <a:ext cx="8789897" cy="190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0" b="0" i="0" u="none" strike="noStrike" cap="none">
                <a:solidFill>
                  <a:srgbClr val="393A3F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  <a:endParaRPr/>
          </a:p>
        </p:txBody>
      </p:sp>
      <p:grpSp>
        <p:nvGrpSpPr>
          <p:cNvPr id="1705" name="Google Shape;1705;p27"/>
          <p:cNvGrpSpPr/>
          <p:nvPr/>
        </p:nvGrpSpPr>
        <p:grpSpPr>
          <a:xfrm rot="10800000">
            <a:off x="8571723" y="933313"/>
            <a:ext cx="5851054" cy="1309820"/>
            <a:chOff x="0" y="0"/>
            <a:chExt cx="7801405" cy="1746426"/>
          </a:xfrm>
        </p:grpSpPr>
        <p:grpSp>
          <p:nvGrpSpPr>
            <p:cNvPr id="1706" name="Google Shape;1706;p2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1707" name="Google Shape;1707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9" name="Google Shape;1709;p2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1710" name="Google Shape;1710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2" name="Google Shape;1712;p2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1713" name="Google Shape;1713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5" name="Google Shape;1715;p2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1716" name="Google Shape;1716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8" name="Google Shape;1718;p2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1719" name="Google Shape;1719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2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7" name="Google Shape;1727;p2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1728" name="Google Shape;1728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0" name="Google Shape;1730;p2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1731" name="Google Shape;1731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3" name="Google Shape;1733;p27"/>
          <p:cNvGrpSpPr/>
          <p:nvPr/>
        </p:nvGrpSpPr>
        <p:grpSpPr>
          <a:xfrm rot="10800000">
            <a:off x="12023215" y="8251030"/>
            <a:ext cx="5851054" cy="1309820"/>
            <a:chOff x="0" y="0"/>
            <a:chExt cx="7801405" cy="1746426"/>
          </a:xfrm>
        </p:grpSpPr>
        <p:grpSp>
          <p:nvGrpSpPr>
            <p:cNvPr id="1734" name="Google Shape;1734;p27"/>
            <p:cNvGrpSpPr/>
            <p:nvPr/>
          </p:nvGrpSpPr>
          <p:grpSpPr>
            <a:xfrm rot="10800000">
              <a:off x="5628042" y="1226060"/>
              <a:ext cx="2173363" cy="520366"/>
              <a:chOff x="0" y="-47625"/>
              <a:chExt cx="429306" cy="102789"/>
            </a:xfrm>
          </p:grpSpPr>
          <p:sp>
            <p:nvSpPr>
              <p:cNvPr id="1735" name="Google Shape;1735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7" name="Google Shape;1737;p27"/>
            <p:cNvGrpSpPr/>
            <p:nvPr/>
          </p:nvGrpSpPr>
          <p:grpSpPr>
            <a:xfrm rot="10800000">
              <a:off x="3056328" y="1226060"/>
              <a:ext cx="2173363" cy="520366"/>
              <a:chOff x="0" y="-47625"/>
              <a:chExt cx="429306" cy="102789"/>
            </a:xfrm>
          </p:grpSpPr>
          <p:sp>
            <p:nvSpPr>
              <p:cNvPr id="1738" name="Google Shape;1738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0" name="Google Shape;1740;p27"/>
            <p:cNvGrpSpPr/>
            <p:nvPr/>
          </p:nvGrpSpPr>
          <p:grpSpPr>
            <a:xfrm rot="10800000">
              <a:off x="4282709" y="409897"/>
              <a:ext cx="2173363" cy="520366"/>
              <a:chOff x="0" y="-47625"/>
              <a:chExt cx="429306" cy="102789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3" name="Google Shape;1743;p27"/>
            <p:cNvGrpSpPr/>
            <p:nvPr/>
          </p:nvGrpSpPr>
          <p:grpSpPr>
            <a:xfrm rot="10800000">
              <a:off x="1969647" y="421320"/>
              <a:ext cx="2173363" cy="520366"/>
              <a:chOff x="0" y="-47625"/>
              <a:chExt cx="429306" cy="102789"/>
            </a:xfrm>
          </p:grpSpPr>
          <p:sp>
            <p:nvSpPr>
              <p:cNvPr id="1744" name="Google Shape;1744;p27"/>
              <p:cNvSpPr/>
              <p:nvPr/>
            </p:nvSpPr>
            <p:spPr>
              <a:xfrm>
                <a:off x="0" y="0"/>
                <a:ext cx="42930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 extrusionOk="0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7"/>
              <p:cNvSpPr txBox="1"/>
              <p:nvPr/>
            </p:nvSpPr>
            <p:spPr>
              <a:xfrm>
                <a:off x="0" y="-47625"/>
                <a:ext cx="42930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6" name="Google Shape;1746;p27"/>
            <p:cNvGrpSpPr/>
            <p:nvPr/>
          </p:nvGrpSpPr>
          <p:grpSpPr>
            <a:xfrm rot="10800000">
              <a:off x="1295725" y="1226060"/>
              <a:ext cx="1191036" cy="520366"/>
              <a:chOff x="0" y="-47625"/>
              <a:chExt cx="235266" cy="102789"/>
            </a:xfrm>
          </p:grpSpPr>
          <p:sp>
            <p:nvSpPr>
              <p:cNvPr id="1747" name="Google Shape;1747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9" name="Google Shape;1749;p27"/>
            <p:cNvGrpSpPr/>
            <p:nvPr/>
          </p:nvGrpSpPr>
          <p:grpSpPr>
            <a:xfrm rot="10800000">
              <a:off x="0" y="421320"/>
              <a:ext cx="1191036" cy="520366"/>
              <a:chOff x="0" y="-47625"/>
              <a:chExt cx="235266" cy="102789"/>
            </a:xfrm>
          </p:grpSpPr>
          <p:sp>
            <p:nvSpPr>
              <p:cNvPr id="1750" name="Google Shape;1750;p27"/>
              <p:cNvSpPr/>
              <p:nvPr/>
            </p:nvSpPr>
            <p:spPr>
              <a:xfrm>
                <a:off x="0" y="0"/>
                <a:ext cx="235266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 extrusionOk="0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27"/>
              <p:cNvSpPr txBox="1"/>
              <p:nvPr/>
            </p:nvSpPr>
            <p:spPr>
              <a:xfrm>
                <a:off x="0" y="-47625"/>
                <a:ext cx="235266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2" name="Google Shape;1752;p27"/>
            <p:cNvGrpSpPr/>
            <p:nvPr/>
          </p:nvGrpSpPr>
          <p:grpSpPr>
            <a:xfrm rot="10800000">
              <a:off x="6598946" y="421320"/>
              <a:ext cx="1202459" cy="497523"/>
              <a:chOff x="0" y="-47625"/>
              <a:chExt cx="237523" cy="98276"/>
            </a:xfrm>
          </p:grpSpPr>
          <p:sp>
            <p:nvSpPr>
              <p:cNvPr id="1753" name="Google Shape;1753;p27"/>
              <p:cNvSpPr/>
              <p:nvPr/>
            </p:nvSpPr>
            <p:spPr>
              <a:xfrm>
                <a:off x="0" y="0"/>
                <a:ext cx="237523" cy="50651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 extrusionOk="0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7"/>
              <p:cNvSpPr txBox="1"/>
              <p:nvPr/>
            </p:nvSpPr>
            <p:spPr>
              <a:xfrm>
                <a:off x="0" y="-47625"/>
                <a:ext cx="237523" cy="98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5" name="Google Shape;1755;p27"/>
            <p:cNvGrpSpPr/>
            <p:nvPr/>
          </p:nvGrpSpPr>
          <p:grpSpPr>
            <a:xfrm rot="10800000">
              <a:off x="3423955" y="819795"/>
              <a:ext cx="4377449" cy="520366"/>
              <a:chOff x="0" y="-47625"/>
              <a:chExt cx="864681" cy="102789"/>
            </a:xfrm>
          </p:grpSpPr>
          <p:sp>
            <p:nvSpPr>
              <p:cNvPr id="1756" name="Google Shape;1756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8" name="Google Shape;1758;p27"/>
            <p:cNvGrpSpPr/>
            <p:nvPr/>
          </p:nvGrpSpPr>
          <p:grpSpPr>
            <a:xfrm rot="10800000">
              <a:off x="3423955" y="0"/>
              <a:ext cx="4377449" cy="520366"/>
              <a:chOff x="0" y="-47625"/>
              <a:chExt cx="864681" cy="102789"/>
            </a:xfrm>
          </p:grpSpPr>
          <p:sp>
            <p:nvSpPr>
              <p:cNvPr id="1759" name="Google Shape;1759;p27"/>
              <p:cNvSpPr/>
              <p:nvPr/>
            </p:nvSpPr>
            <p:spPr>
              <a:xfrm>
                <a:off x="0" y="0"/>
                <a:ext cx="864681" cy="55164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 extrusionOk="0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27"/>
              <p:cNvSpPr txBox="1"/>
              <p:nvPr/>
            </p:nvSpPr>
            <p:spPr>
              <a:xfrm>
                <a:off x="0" y="-47625"/>
                <a:ext cx="864681" cy="1027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761" name="Google Shape;17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00" y="3023657"/>
            <a:ext cx="9824100" cy="653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gramming Lesson Presentation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A6A6A6"/>
      </a:lt2>
      <a:accent1>
        <a:srgbClr val="BBBBBB"/>
      </a:accent1>
      <a:accent2>
        <a:srgbClr val="E9E9E9"/>
      </a:accent2>
      <a:accent3>
        <a:srgbClr val="F6836B"/>
      </a:accent3>
      <a:accent4>
        <a:srgbClr val="ED7843"/>
      </a:accent4>
      <a:accent5>
        <a:srgbClr val="FFFEF8"/>
      </a:accent5>
      <a:accent6>
        <a:srgbClr val="5EC9CC"/>
      </a:accent6>
      <a:hlink>
        <a:srgbClr val="FF4F6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320</Words>
  <Application>Microsoft Office PowerPoint</Application>
  <PresentationFormat>Custom</PresentationFormat>
  <Paragraphs>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Google Sans</vt:lpstr>
      <vt:lpstr>Arimo</vt:lpstr>
      <vt:lpstr>Arial</vt:lpstr>
      <vt:lpstr>Calibri</vt:lpstr>
      <vt:lpstr>Anton</vt:lpstr>
      <vt:lpstr>Programming Lesson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ibo98x</dc:creator>
  <cp:lastModifiedBy>ibo98x</cp:lastModifiedBy>
  <cp:revision>31</cp:revision>
  <dcterms:modified xsi:type="dcterms:W3CDTF">2025-04-21T11:15:56Z</dcterms:modified>
</cp:coreProperties>
</file>